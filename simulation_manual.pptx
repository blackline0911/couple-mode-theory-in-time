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3" r:id="rId6"/>
    <p:sldId id="264" r:id="rId7"/>
    <p:sldId id="259" r:id="rId8"/>
    <p:sldId id="265" r:id="rId9"/>
    <p:sldId id="267" r:id="rId10"/>
    <p:sldId id="266" r:id="rId11"/>
    <p:sldId id="268" r:id="rId12"/>
    <p:sldId id="269" r:id="rId1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0341D8-F7F2-34A0-CAC6-20F630BB2A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FEEF5D2-D5FB-98F5-C838-03F4AB6437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325A3F7-E536-E85B-42A1-2FAEE7DC6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35E9F-8F68-4261-A06E-BB70CB13B419}" type="datetimeFigureOut">
              <a:rPr lang="zh-TW" altLang="en-US" smtClean="0"/>
              <a:t>2025/6/19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D574E37-2F16-FD29-E0BE-C2DCBA47B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F1B64CA-0FF6-4782-818B-A564005A7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A6CFA-C09D-4DF2-BB0F-7A7F35B23C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2753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BA3A93-F357-A488-04BB-5C9EE9643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1571E39-7B39-0C82-99E3-FCE691FC9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BA5864A-5AFD-01A5-673D-E19182812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35E9F-8F68-4261-A06E-BB70CB13B419}" type="datetimeFigureOut">
              <a:rPr lang="zh-TW" altLang="en-US" smtClean="0"/>
              <a:t>2025/6/19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E7B9BFD-32C3-0841-9F69-9AB7343E5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3DA0175-80E4-5D85-AFC0-AD0996C17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A6CFA-C09D-4DF2-BB0F-7A7F35B23C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3124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B8958E-80D3-43AF-B3CD-145583CF0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0123D45-D3E7-0239-B353-5DA12A6318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EFD4A7F-D609-6750-5664-22B203B38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35E9F-8F68-4261-A06E-BB70CB13B419}" type="datetimeFigureOut">
              <a:rPr lang="zh-TW" altLang="en-US" smtClean="0"/>
              <a:t>2025/6/19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445FDEB-CE43-9529-6F78-68DDFCB3C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FE1102E-8DC5-B9A8-AD5F-639FBCA1D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A6CFA-C09D-4DF2-BB0F-7A7F35B23C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7790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95B93C-23E7-F323-D8FC-EA7F7E906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301A9C3-76D9-F930-D4F5-8A72099C61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9BCE9E4-CFE9-7AC2-1115-4DC1EDBC80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2DEC4E5-75EC-8D97-BD76-130CE224C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35E9F-8F68-4261-A06E-BB70CB13B419}" type="datetimeFigureOut">
              <a:rPr lang="zh-TW" altLang="en-US" smtClean="0"/>
              <a:t>2025/6/19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5237B10-19F3-C952-8573-FECCBB651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58B5E55-7F74-04FF-6270-E03DD1025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A6CFA-C09D-4DF2-BB0F-7A7F35B23C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7291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4891B5-B022-641F-67A4-5283D9BBC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1C62F86-68C5-A51C-B7D3-45E51F13D0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3EE9000-31AB-12E3-4C67-C80C0D4330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D956A56-CB99-DA60-7AC6-F7D050CFA0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9CB40EE-AAF4-B8A0-1CA1-13476F61F9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6243173-4DFE-9577-F24F-68A955DCD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35E9F-8F68-4261-A06E-BB70CB13B419}" type="datetimeFigureOut">
              <a:rPr lang="zh-TW" altLang="en-US" smtClean="0"/>
              <a:t>2025/6/19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4FCF134A-9606-14C0-D8E0-B5BFB5FF2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D6194315-9C28-52EF-73E0-63E109E01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A6CFA-C09D-4DF2-BB0F-7A7F35B23C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9443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6B34DD-E891-A2A4-F3CB-776B0B431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F06097A-1DFF-305A-700E-7EFD7F122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35E9F-8F68-4261-A06E-BB70CB13B419}" type="datetimeFigureOut">
              <a:rPr lang="zh-TW" altLang="en-US" smtClean="0"/>
              <a:t>2025/6/19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A193101-7850-4277-7E1E-A0BC829D0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820FEB8-474D-A516-1891-D119B028F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A6CFA-C09D-4DF2-BB0F-7A7F35B23C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9583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B03264E-104B-D73F-A28E-89BF9B303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35E9F-8F68-4261-A06E-BB70CB13B419}" type="datetimeFigureOut">
              <a:rPr lang="zh-TW" altLang="en-US" smtClean="0"/>
              <a:t>2025/6/19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60DB104-2733-BE34-EED0-A221D5D8C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F3942E1-7C02-1E13-E2BC-BCD8BB1C8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A6CFA-C09D-4DF2-BB0F-7A7F35B23C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1603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1EB79E-2148-114A-1F99-BE842EF8A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C5D03C9-A0CA-C644-FDB3-F9E995AB64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2C087DC-71B5-E76C-97E6-2A6960ACE8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D9F74F1-73FC-250C-011D-B77CFDDDA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35E9F-8F68-4261-A06E-BB70CB13B419}" type="datetimeFigureOut">
              <a:rPr lang="zh-TW" altLang="en-US" smtClean="0"/>
              <a:t>2025/6/19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EDC8644-324F-E365-AFB5-99F5D4B5A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A15A3C8-7FD3-6C9E-F043-3263A67B4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A6CFA-C09D-4DF2-BB0F-7A7F35B23C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9353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684F5B-821B-0E7B-F0B0-ACEBFD7F8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8C025C0-5437-8FE9-80C5-CFCC6FF8DB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FE9E940-0D34-A13E-4EDF-2CE59F388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E23E8D9-8F21-97E6-1468-B197565E5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35E9F-8F68-4261-A06E-BB70CB13B419}" type="datetimeFigureOut">
              <a:rPr lang="zh-TW" altLang="en-US" smtClean="0"/>
              <a:t>2025/6/19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4AA28AD-2BAF-02F9-E2E8-263824E44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941DAB3-A8D6-4484-9C07-2A315CED6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A6CFA-C09D-4DF2-BB0F-7A7F35B23C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4271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61CEE6-F11A-F916-2E33-7356145BB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DFEEEB3-E1BF-3E51-27C6-06B09CB5AA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FD074BF-E458-BCCB-9363-5C2B79607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35E9F-8F68-4261-A06E-BB70CB13B419}" type="datetimeFigureOut">
              <a:rPr lang="zh-TW" altLang="en-US" smtClean="0"/>
              <a:t>2025/6/19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0D9550C-0E17-75E2-308D-1072F7CF8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7171C3D-AD09-7B53-AA4D-40E183507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A6CFA-C09D-4DF2-BB0F-7A7F35B23C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7727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5AA9F6B6-782A-9B48-42B8-4838D847E7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EE8E81C-F78F-ECAF-150C-5CDCED55E0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04FAE9D-FA5A-2902-CDFD-D47C804F7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35E9F-8F68-4261-A06E-BB70CB13B419}" type="datetimeFigureOut">
              <a:rPr lang="zh-TW" altLang="en-US" smtClean="0"/>
              <a:t>2025/6/19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F6E7F30-FCC0-2213-BEAD-C836E4914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250B137-CAAF-CC46-30D1-C78BD1A2B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A6CFA-C09D-4DF2-BB0F-7A7F35B23C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9170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02AD001-FF09-7240-90B5-FA4E40DAE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1A8D9F1-90D5-D00A-6452-348695F95B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DF62C79-06BB-2CE0-27EA-7F4B87D5A6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635E9F-8F68-4261-A06E-BB70CB13B419}" type="datetimeFigureOut">
              <a:rPr lang="zh-TW" altLang="en-US" smtClean="0"/>
              <a:t>2025/6/19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A601F72-3A1A-610F-2473-7741AC3EC5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E298BCC-3AEE-F9C8-117C-2C8A2E79DF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6A6CFA-C09D-4DF2-BB0F-7A7F35B23C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9026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5BB9BF-1BA2-5964-79F9-7114306AA9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1D81245-6CBF-936A-61F2-8D5D5F40D3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8605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C0C7B0-8858-D2DD-E67D-0EE9DA4B7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簡報內容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6C730AD-A20F-6A78-CFBB-37682E063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如何從實驗的</a:t>
            </a:r>
            <a:r>
              <a:rPr lang="en-US" altLang="zh-TW" dirty="0"/>
              <a:t>Transmission</a:t>
            </a:r>
            <a:r>
              <a:rPr lang="zh-TW" altLang="en-US" dirty="0"/>
              <a:t>曲線模擬</a:t>
            </a:r>
            <a:r>
              <a:rPr lang="en-US" altLang="zh-TW" dirty="0"/>
              <a:t>Ring modulator eye diagram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38241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22BD961-E98A-664B-3FA6-6D034C7AA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必須知道的參數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7509088-7074-74F7-7FDF-AE01153F84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Free spectral range (</a:t>
            </a:r>
            <a:r>
              <a:rPr lang="zh-TW" altLang="en-US" dirty="0"/>
              <a:t>或</a:t>
            </a:r>
            <a:r>
              <a:rPr lang="en-US" altLang="zh-TW" dirty="0"/>
              <a:t>Group index)</a:t>
            </a:r>
          </a:p>
          <a:p>
            <a:r>
              <a:rPr lang="en-US" altLang="zh-TW" dirty="0"/>
              <a:t>Ring </a:t>
            </a:r>
            <a:r>
              <a:rPr lang="zh-TW" altLang="en-US" dirty="0"/>
              <a:t>周長</a:t>
            </a:r>
            <a:endParaRPr lang="en-US" altLang="zh-TW" dirty="0"/>
          </a:p>
          <a:p>
            <a:r>
              <a:rPr lang="en-US" altLang="zh-TW" dirty="0"/>
              <a:t>Q factor</a:t>
            </a:r>
          </a:p>
          <a:p>
            <a:r>
              <a:rPr lang="en-US" altLang="zh-TW" dirty="0"/>
              <a:t>Transmission Deep</a:t>
            </a:r>
          </a:p>
          <a:p>
            <a:r>
              <a:rPr lang="zh-TW" altLang="en-US" dirty="0"/>
              <a:t>共振中心波長</a:t>
            </a:r>
            <a:endParaRPr lang="en-US" altLang="zh-TW" dirty="0"/>
          </a:p>
          <a:p>
            <a:r>
              <a:rPr lang="en-US" altLang="zh-TW" dirty="0"/>
              <a:t>modulation efficiency (pm/V) </a:t>
            </a:r>
            <a:r>
              <a:rPr lang="zh-TW" altLang="en-US" dirty="0"/>
              <a:t>或</a:t>
            </a:r>
            <a:r>
              <a:rPr lang="en-US" altLang="zh-TW" dirty="0" err="1"/>
              <a:t>VpiL</a:t>
            </a:r>
            <a:endParaRPr lang="en-US" altLang="zh-TW" dirty="0"/>
          </a:p>
          <a:p>
            <a:r>
              <a:rPr lang="en-US" altLang="zh-TW" dirty="0"/>
              <a:t>active length(</a:t>
            </a:r>
            <a:r>
              <a:rPr lang="zh-TW" altLang="en-US" dirty="0"/>
              <a:t>或</a:t>
            </a:r>
            <a:r>
              <a:rPr lang="en-US" altLang="zh-TW" dirty="0" err="1"/>
              <a:t>PN</a:t>
            </a:r>
            <a:r>
              <a:rPr lang="en-US" altLang="zh-TW" dirty="0"/>
              <a:t> junction</a:t>
            </a:r>
            <a:r>
              <a:rPr lang="zh-TW" altLang="en-US" dirty="0"/>
              <a:t>佔</a:t>
            </a:r>
            <a:r>
              <a:rPr lang="en-US" altLang="zh-TW" dirty="0"/>
              <a:t>ring</a:t>
            </a:r>
            <a:r>
              <a:rPr lang="zh-TW" altLang="en-US" dirty="0"/>
              <a:t>周長百分之多少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等效電路元件參數</a:t>
            </a:r>
            <a:r>
              <a:rPr lang="en-US" altLang="zh-TW" dirty="0"/>
              <a:t>(</a:t>
            </a:r>
            <a:r>
              <a:rPr lang="zh-TW" altLang="en-US" dirty="0"/>
              <a:t>參考第</a:t>
            </a:r>
            <a:r>
              <a:rPr lang="en-US" altLang="zh-TW" dirty="0"/>
              <a:t>8</a:t>
            </a:r>
            <a:r>
              <a:rPr lang="zh-TW" altLang="en-US" dirty="0"/>
              <a:t>頁</a:t>
            </a:r>
            <a:r>
              <a:rPr lang="en-US" altLang="zh-TW" dirty="0"/>
              <a:t>)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66174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8E2A1D-D99A-662E-E623-03ECDBC30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58800"/>
          </a:xfrm>
        </p:spPr>
        <p:txBody>
          <a:bodyPr>
            <a:normAutofit fontScale="90000"/>
          </a:bodyPr>
          <a:lstStyle/>
          <a:p>
            <a:r>
              <a:rPr lang="zh-TW" altLang="en-US" dirty="0"/>
              <a:t>前言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615DD57-EB4D-21CD-5A4E-B4EE95FAB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53331"/>
            <a:ext cx="10515600" cy="4351338"/>
          </a:xfrm>
        </p:spPr>
        <p:txBody>
          <a:bodyPr/>
          <a:lstStyle/>
          <a:p>
            <a:r>
              <a:rPr lang="zh-TW" altLang="en-US" dirty="0"/>
              <a:t>我們會先模擬出符合實驗的</a:t>
            </a:r>
            <a:r>
              <a:rPr lang="en-US" altLang="zh-TW" dirty="0"/>
              <a:t>Transmission</a:t>
            </a:r>
            <a:r>
              <a:rPr lang="zh-TW" altLang="en-US" dirty="0"/>
              <a:t>，確認正確後再模擬</a:t>
            </a:r>
            <a:r>
              <a:rPr lang="en-US" altLang="zh-TW" dirty="0"/>
              <a:t>Eye diagram</a:t>
            </a:r>
          </a:p>
          <a:p>
            <a:r>
              <a:rPr lang="zh-TW" altLang="en-US" dirty="0"/>
              <a:t>因為有些物理參數會在</a:t>
            </a:r>
            <a:r>
              <a:rPr lang="en-US" altLang="zh-TW" dirty="0"/>
              <a:t>Ring</a:t>
            </a:r>
            <a:r>
              <a:rPr lang="zh-TW" altLang="en-US" dirty="0"/>
              <a:t>類別內計算，所以一開始會先設定一些不是正確的參數</a:t>
            </a:r>
            <a:r>
              <a:rPr lang="en-US" altLang="zh-TW" dirty="0"/>
              <a:t>(dummy parameter)</a:t>
            </a:r>
            <a:r>
              <a:rPr lang="zh-TW" altLang="en-US" dirty="0"/>
              <a:t>，為了能先讓</a:t>
            </a:r>
            <a:r>
              <a:rPr lang="en-US" altLang="zh-TW" dirty="0"/>
              <a:t>Ring</a:t>
            </a:r>
            <a:r>
              <a:rPr lang="zh-TW" altLang="en-US" dirty="0"/>
              <a:t>類別動起來計算出參數後，再依該參數調整其他輸入參數。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(</a:t>
            </a:r>
            <a:r>
              <a:rPr lang="zh-TW" altLang="en-US" dirty="0"/>
              <a:t>如果不這麼做，</a:t>
            </a:r>
            <a:r>
              <a:rPr lang="en-US" altLang="zh-TW" dirty="0"/>
              <a:t>Ring </a:t>
            </a:r>
            <a:r>
              <a:rPr lang="zh-TW" altLang="en-US" dirty="0"/>
              <a:t>類別會因為</a:t>
            </a:r>
            <a:r>
              <a:rPr lang="en-US" altLang="zh-TW" dirty="0"/>
              <a:t>input</a:t>
            </a:r>
            <a:r>
              <a:rPr lang="zh-TW" altLang="en-US" dirty="0"/>
              <a:t>不夠而報錯</a:t>
            </a:r>
            <a:r>
              <a:rPr lang="en-US" altLang="zh-TW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84195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5AA9D4-BBD1-1739-58C7-1973D3591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125" y="365125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zh-TW" altLang="en-US" dirty="0"/>
              <a:t>第一步</a:t>
            </a:r>
            <a:r>
              <a:rPr lang="en-US" altLang="zh-TW" dirty="0"/>
              <a:t>:</a:t>
            </a:r>
            <a:r>
              <a:rPr lang="zh-TW" altLang="en-US" dirty="0"/>
              <a:t> 計算</a:t>
            </a:r>
            <a:r>
              <a:rPr lang="en-US" altLang="zh-TW" dirty="0"/>
              <a:t>total loss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806023C3-2EAA-9D48-DD2D-1C244FE350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9125" y="1101725"/>
                <a:ext cx="10515600" cy="4951968"/>
              </a:xfrm>
            </p:spPr>
            <p:txBody>
              <a:bodyPr>
                <a:normAutofit/>
              </a:bodyPr>
              <a:lstStyle/>
              <a:p>
                <a:r>
                  <a:rPr lang="zh-TW" altLang="en-US" dirty="0"/>
                  <a:t>從已知的</a:t>
                </a:r>
                <a:r>
                  <a:rPr lang="en-US" altLang="zh-TW" dirty="0"/>
                  <a:t>FSR, </a:t>
                </a:r>
                <a:r>
                  <a:rPr lang="zh-TW" altLang="en-US" dirty="0"/>
                  <a:t>共振波長和</a:t>
                </a:r>
                <a:r>
                  <a:rPr lang="en-US" altLang="zh-TW" dirty="0"/>
                  <a:t>cavity</a:t>
                </a:r>
                <a:r>
                  <a:rPr lang="zh-TW" altLang="en-US" dirty="0"/>
                  <a:t>長度計算</a:t>
                </a:r>
                <a:r>
                  <a:rPr lang="en-US" altLang="zh-TW" dirty="0"/>
                  <a:t>Group index</a:t>
                </a:r>
              </a:p>
              <a:p>
                <a:r>
                  <a:rPr lang="zh-TW" altLang="en-US" dirty="0"/>
                  <a:t>公式：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𝑟𝑒𝑠</m:t>
                            </m:r>
                          </m:sub>
                          <m:sup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𝐹𝑆𝑅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</m:oMath>
                </a14:m>
                <a:endParaRPr lang="en-US" altLang="zh-TW" dirty="0"/>
              </a:p>
              <a:p>
                <a:r>
                  <a:rPr lang="zh-TW" altLang="en-US" dirty="0"/>
                  <a:t>用已知</a:t>
                </a:r>
                <a:r>
                  <a:rPr lang="en-US" altLang="zh-TW" dirty="0"/>
                  <a:t>ring</a:t>
                </a:r>
                <a:r>
                  <a:rPr lang="zh-TW" altLang="en-US" dirty="0"/>
                  <a:t>的</a:t>
                </a:r>
                <a:r>
                  <a:rPr lang="en-US" altLang="zh-TW" dirty="0"/>
                  <a:t>Q</a:t>
                </a:r>
                <a:r>
                  <a:rPr lang="zh-TW" altLang="en-US" dirty="0"/>
                  <a:t>計算</a:t>
                </a:r>
                <a:r>
                  <a:rPr lang="en-US" altLang="zh-TW" dirty="0"/>
                  <a:t>intrinsic loss</a:t>
                </a:r>
                <a:r>
                  <a:rPr lang="zh-TW" altLang="en-US" dirty="0"/>
                  <a:t>和</a:t>
                </a:r>
                <a:r>
                  <a:rPr lang="en-US" altLang="zh-TW" dirty="0"/>
                  <a:t>coupling loss</a:t>
                </a:r>
              </a:p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𝑟𝑒𝑠</m:t>
                            </m:r>
                          </m:sub>
                        </m:sSub>
                      </m:num>
                      <m:den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∗(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𝑒𝑛𝑒𝑟𝑔𝑦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𝑒𝑛𝑒𝑟𝑔𝑦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altLang="zh-TW" dirty="0">
                    <a:sym typeface="Wingdings" panose="05000000000000000000" pitchFamily="2" charset="2"/>
                  </a:rPr>
                  <a:t> </a:t>
                </a:r>
                <a:r>
                  <a:rPr lang="zh-TW" altLang="en-US" dirty="0">
                    <a:sym typeface="Wingdings" panose="05000000000000000000" pitchFamily="2" charset="2"/>
                  </a:rPr>
                  <a:t>計算出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𝑒𝑛𝑒𝑟𝑔𝑦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𝑒𝑛𝑒𝑟𝑔𝑦</m:t>
                            </m:r>
                          </m:sub>
                        </m:sSub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altLang="zh-TW" dirty="0"/>
                  <a:t>unit = 1/cm</a:t>
                </a:r>
              </a:p>
              <a:p>
                <a:r>
                  <a:rPr lang="zh-TW" altLang="en-US" dirty="0"/>
                  <a:t>得到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𝑒𝑛𝑒𝑟𝑔𝑦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𝑒𝑛𝑒𝑟𝑔𝑦</m:t>
                            </m:r>
                          </m:sub>
                        </m:sSub>
                      </m:e>
                    </m:d>
                  </m:oMath>
                </a14:m>
                <a:r>
                  <a:rPr lang="zh-TW" altLang="en-US" dirty="0"/>
                  <a:t>後，先暫定個別兩者值相同</a:t>
                </a:r>
                <a:endParaRPr lang="en-US" altLang="zh-TW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𝑒𝑛𝑒𝑟𝑔𝑦</m:t>
                        </m:r>
                      </m:sub>
                    </m:sSub>
                  </m:oMath>
                </a14:m>
                <a:r>
                  <a:rPr lang="en-US" altLang="zh-TW" dirty="0"/>
                  <a:t>(coupling loss)</a:t>
                </a:r>
                <a:r>
                  <a:rPr lang="zh-TW" altLang="en-US" dirty="0"/>
                  <a:t>定義：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Γ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𝑒𝑛𝑒𝑟𝑔𝑦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p>
                    </m:sSup>
                  </m:oMath>
                </a14:m>
                <a:endParaRPr lang="en-US" altLang="zh-TW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𝑒𝑛𝑒𝑟𝑔𝑦</m:t>
                        </m:r>
                      </m:sub>
                    </m:sSub>
                  </m:oMath>
                </a14:m>
                <a:r>
                  <a:rPr lang="en-US" altLang="zh-TW" dirty="0"/>
                  <a:t>(intrinsic loss)</a:t>
                </a:r>
                <a:r>
                  <a:rPr lang="zh-TW" altLang="en-US" dirty="0"/>
                  <a:t>定義：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𝑒𝑛𝑒𝑟𝑔𝑦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p>
                    </m:sSup>
                  </m:oMath>
                </a14:m>
                <a:r>
                  <a:rPr lang="zh-TW" altLang="en-US" dirty="0"/>
                  <a:t>  </a:t>
                </a:r>
                <a:r>
                  <a:rPr lang="en-US" altLang="zh-TW" dirty="0"/>
                  <a:t>(</a:t>
                </a:r>
                <a:r>
                  <a:rPr lang="en-US" altLang="zh-TW" dirty="0" err="1"/>
                  <a:t>a.k.a</a:t>
                </a:r>
                <a:r>
                  <a:rPr lang="zh-TW" altLang="en-US" dirty="0"/>
                  <a:t>吸收係數</a:t>
                </a:r>
                <a:r>
                  <a:rPr lang="en-US" altLang="zh-TW" dirty="0"/>
                  <a:t>)</a:t>
                </a:r>
                <a:endParaRPr lang="zh-TW" altLang="en-US" dirty="0"/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806023C3-2EAA-9D48-DD2D-1C244FE350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9125" y="1101725"/>
                <a:ext cx="10515600" cy="4951968"/>
              </a:xfrm>
              <a:blipFill>
                <a:blip r:embed="rId2"/>
                <a:stretch>
                  <a:fillRect l="-1043" t="-22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2DDA2BF0-8B36-D528-9555-0FA25F682159}"/>
                  </a:ext>
                </a:extLst>
              </p:cNvPr>
              <p:cNvSpPr txBox="1"/>
              <p:nvPr/>
            </p:nvSpPr>
            <p:spPr>
              <a:xfrm>
                <a:off x="619125" y="6053693"/>
                <a:ext cx="45720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b="0" i="0" smtClean="0"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b="0" i="0" smtClean="0">
                          <a:latin typeface="Cambria Math" panose="02040503050406030204" pitchFamily="18" charset="0"/>
                        </a:rPr>
                        <m:t>amp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𝑙𝑖𝑡𝑢𝑑𝑒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𝑐𝑜𝑢𝑝𝑙𝑒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𝑡h𝑟𝑜𝑢𝑔h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𝑐𝑜𝑒𝑓𝑓𝑖𝑐𝑖𝑒𝑛𝑡</m:t>
                      </m:r>
                    </m:oMath>
                  </m:oMathPara>
                </a14:m>
                <a:endParaRPr lang="en-US" altLang="zh-TW" dirty="0"/>
              </a:p>
              <a:p>
                <a:r>
                  <a:rPr lang="en-US" altLang="zh-TW" dirty="0"/>
                  <a:t>a = energy round trip loss </a:t>
                </a:r>
                <a:endParaRPr lang="zh-TW" altLang="en-US" dirty="0"/>
              </a:p>
            </p:txBody>
          </p:sp>
        </mc:Choice>
        <mc:Fallback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2DDA2BF0-8B36-D528-9555-0FA25F6821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125" y="6053693"/>
                <a:ext cx="4572000" cy="646331"/>
              </a:xfrm>
              <a:prstGeom prst="rect">
                <a:avLst/>
              </a:prstGeom>
              <a:blipFill>
                <a:blip r:embed="rId3"/>
                <a:stretch>
                  <a:fillRect l="-1200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5042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F44023-C966-301B-C39A-675E09891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475"/>
          </a:xfrm>
        </p:spPr>
        <p:txBody>
          <a:bodyPr>
            <a:normAutofit fontScale="90000"/>
          </a:bodyPr>
          <a:lstStyle/>
          <a:p>
            <a:r>
              <a:rPr lang="zh-TW" altLang="en-US" dirty="0"/>
              <a:t>第二步：定義</a:t>
            </a:r>
            <a:r>
              <a:rPr lang="en-US" altLang="zh-TW" dirty="0"/>
              <a:t>loss</a:t>
            </a:r>
            <a:r>
              <a:rPr lang="zh-TW" altLang="en-US" dirty="0"/>
              <a:t>隨電壓變化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8D128E98-27A3-A7B4-3917-28F63C99AB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19225"/>
                <a:ext cx="10515600" cy="4757738"/>
              </a:xfrm>
            </p:spPr>
            <p:txBody>
              <a:bodyPr>
                <a:normAutofit/>
              </a:bodyPr>
              <a:lstStyle/>
              <a:p>
                <a:r>
                  <a:rPr lang="zh-TW" altLang="en-US" dirty="0"/>
                  <a:t>定義</a:t>
                </a:r>
                <a:r>
                  <a:rPr lang="en-US" altLang="zh-TW" dirty="0" err="1"/>
                  <a:t>alpha_fit</a:t>
                </a:r>
                <a:r>
                  <a:rPr lang="zh-TW" altLang="en-US" dirty="0"/>
                  <a:t>類別，這個類別需要你先</a:t>
                </a:r>
                <a:r>
                  <a:rPr lang="en-US" altLang="zh-TW" dirty="0"/>
                  <a:t>input</a:t>
                </a:r>
                <a:r>
                  <a:rPr lang="zh-TW" altLang="en-US" dirty="0"/>
                  <a:t>離散的吸收係數值</a:t>
                </a:r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/>
                  <a:t>(</a:t>
                </a:r>
                <a:r>
                  <a:rPr lang="zh-TW" altLang="en-US" dirty="0"/>
                  <a:t>離散點： </a:t>
                </a:r>
                <a:r>
                  <a:rPr lang="en-US" altLang="zh-TW" dirty="0"/>
                  <a:t>voltage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=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[0,-0.5,-1,-1.5,-2])</a:t>
                </a:r>
              </a:p>
              <a:p>
                <a:r>
                  <a:rPr lang="zh-TW" altLang="en-US" dirty="0"/>
                  <a:t>大多情況下吸收係數與電壓為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sSup>
                          <m:sSup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</m:d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0.5</m:t>
                            </m:r>
                          </m:sup>
                        </m:sSup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TW" dirty="0"/>
                  <a:t>, </a:t>
                </a:r>
                <a:r>
                  <a:rPr lang="zh-TW" altLang="en-US" dirty="0"/>
                  <a:t>並非線性關係</a:t>
                </a:r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/>
                  <a:t>(</a:t>
                </a:r>
                <a:r>
                  <a:rPr lang="zh-TW" altLang="en-US" dirty="0"/>
                  <a:t>如果看實驗結果想近似成線性的也</a:t>
                </a:r>
                <a:r>
                  <a:rPr lang="en-US" altLang="zh-TW" dirty="0"/>
                  <a:t>OK)</a:t>
                </a:r>
                <a:r>
                  <a:rPr lang="zh-TW" altLang="en-US" dirty="0"/>
                  <a:t>，因為要先畫出</a:t>
                </a:r>
                <a:r>
                  <a:rPr lang="en-US" altLang="zh-TW" dirty="0"/>
                  <a:t>V=0</a:t>
                </a:r>
                <a:r>
                  <a:rPr lang="zh-TW" altLang="en-US" dirty="0"/>
                  <a:t>的頻譜所以先自定義</a:t>
                </a:r>
                <a:r>
                  <a:rPr lang="en-US" altLang="zh-TW" dirty="0"/>
                  <a:t>b, c</a:t>
                </a:r>
                <a:r>
                  <a:rPr lang="zh-TW" altLang="en-US" dirty="0"/>
                  <a:t>等常數，等後面再來調整</a:t>
                </a:r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/>
              </a:p>
              <a:p>
                <a:r>
                  <a:rPr lang="zh-TW" altLang="en-US" dirty="0"/>
                  <a:t>定義</a:t>
                </a:r>
                <a:r>
                  <a:rPr lang="en-US" altLang="zh-TW" dirty="0"/>
                  <a:t>couple through coefficient</a:t>
                </a:r>
                <a:r>
                  <a:rPr lang="zh-TW" altLang="en-US" dirty="0"/>
                  <a:t>：</a:t>
                </a:r>
                <a:endParaRPr lang="en-US" altLang="zh-TW" dirty="0"/>
              </a:p>
              <a:p>
                <a:pPr marL="0" indent="0">
                  <a:buNone/>
                </a:pPr>
                <a:r>
                  <a:rPr lang="zh-TW" altLang="en-US" dirty="0"/>
                  <a:t>依照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Γ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𝑒𝑛𝑒𝑟𝑔𝑦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p>
                    </m:sSup>
                  </m:oMath>
                </a14:m>
                <a:r>
                  <a:rPr lang="zh-TW" altLang="en-US" dirty="0"/>
                  <a:t>，計算出振幅的</a:t>
                </a:r>
                <a:r>
                  <a:rPr lang="en-US" altLang="zh-TW" dirty="0"/>
                  <a:t>coupling through coefficient</a:t>
                </a:r>
                <a:r>
                  <a:rPr lang="zh-TW" altLang="en-US" dirty="0"/>
                  <a:t>。</a:t>
                </a:r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8D128E98-27A3-A7B4-3917-28F63C99AB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19225"/>
                <a:ext cx="10515600" cy="4757738"/>
              </a:xfrm>
              <a:blipFill>
                <a:blip r:embed="rId2"/>
                <a:stretch>
                  <a:fillRect l="-1217" t="-2308" r="-3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F8D5E2F3-C757-0838-E5BD-0C35653C1B6C}"/>
                  </a:ext>
                </a:extLst>
              </p:cNvPr>
              <p:cNvSpPr txBox="1"/>
              <p:nvPr/>
            </p:nvSpPr>
            <p:spPr>
              <a:xfrm>
                <a:off x="7639050" y="2152650"/>
                <a:ext cx="37147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TW" altLang="en-US" dirty="0"/>
                  <a:t>是上一頁算的</a:t>
                </a:r>
                <a:r>
                  <a:rPr lang="en-US" altLang="zh-TW" dirty="0"/>
                  <a:t>V=0</a:t>
                </a:r>
                <a:r>
                  <a:rPr lang="zh-TW" altLang="en-US" dirty="0"/>
                  <a:t>時的吸收係數</a:t>
                </a:r>
              </a:p>
            </p:txBody>
          </p:sp>
        </mc:Choice>
        <mc:Fallback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F8D5E2F3-C757-0838-E5BD-0C35653C1B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9050" y="2152650"/>
                <a:ext cx="3714750" cy="369332"/>
              </a:xfrm>
              <a:prstGeom prst="rect">
                <a:avLst/>
              </a:prstGeom>
              <a:blipFill>
                <a:blip r:embed="rId3"/>
                <a:stretch>
                  <a:fillRect t="-8197" b="-262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83847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36020D-6FA0-51BD-D829-45AC84E0B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6425"/>
          </a:xfrm>
        </p:spPr>
        <p:txBody>
          <a:bodyPr>
            <a:normAutofit fontScale="90000"/>
          </a:bodyPr>
          <a:lstStyle/>
          <a:p>
            <a:r>
              <a:rPr lang="zh-TW" altLang="en-US" dirty="0"/>
              <a:t>第三步：計算中心波長折射率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893AB9BA-0957-3F72-B350-20F35FFE23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38275"/>
                <a:ext cx="10515600" cy="4738688"/>
              </a:xfrm>
            </p:spPr>
            <p:txBody>
              <a:bodyPr>
                <a:normAutofit/>
              </a:bodyPr>
              <a:lstStyle/>
              <a:p>
                <a:r>
                  <a:rPr lang="zh-TW" altLang="en-US" dirty="0"/>
                  <a:t>以公式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𝑛</m:t>
                    </m:r>
                    <m:f>
                      <m:f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∗2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altLang="zh-TW" dirty="0"/>
                  <a:t>,  </a:t>
                </a:r>
                <a:r>
                  <a:rPr lang="zh-TW" altLang="en-US" dirty="0"/>
                  <a:t>計算中心波長折射率</a:t>
                </a:r>
                <a:endParaRPr lang="en-US" altLang="zh-TW" dirty="0"/>
              </a:p>
              <a:p>
                <a:endParaRPr lang="en-US" altLang="zh-TW" dirty="0"/>
              </a:p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</m:oMath>
                </a14:m>
                <a:r>
                  <a:rPr lang="en-US" altLang="zh-TW" dirty="0"/>
                  <a:t>, </a:t>
                </a:r>
                <a:r>
                  <a:rPr lang="zh-TW" altLang="en-US" dirty="0"/>
                  <a:t>已知波長與</a:t>
                </a:r>
                <a:r>
                  <a:rPr lang="en-US" altLang="zh-TW" dirty="0"/>
                  <a:t>cavity</a:t>
                </a:r>
                <a:r>
                  <a:rPr lang="zh-TW" altLang="en-US" dirty="0"/>
                  <a:t>長度，接著可以自訂一個整數</a:t>
                </a:r>
                <a:r>
                  <a:rPr lang="en-US" altLang="zh-TW" dirty="0"/>
                  <a:t>m</a:t>
                </a:r>
                <a:r>
                  <a:rPr lang="zh-TW" altLang="en-US" dirty="0"/>
                  <a:t>值，使得</a:t>
                </a:r>
                <a:r>
                  <a:rPr lang="en-US" altLang="zh-TW" dirty="0"/>
                  <a:t>n</a:t>
                </a:r>
                <a:r>
                  <a:rPr lang="zh-TW" altLang="en-US" dirty="0"/>
                  <a:t>落在約</a:t>
                </a:r>
                <a:r>
                  <a:rPr lang="en-US" altLang="zh-TW" dirty="0"/>
                  <a:t>2.5~2.7</a:t>
                </a:r>
                <a:r>
                  <a:rPr lang="zh-TW" altLang="en-US" dirty="0"/>
                  <a:t>位置</a:t>
                </a:r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r>
                  <a:rPr lang="zh-TW" altLang="en-US" dirty="0"/>
                  <a:t>模擬時</a:t>
                </a:r>
                <a:r>
                  <a:rPr lang="en-US" altLang="zh-TW" dirty="0"/>
                  <a:t>n</a:t>
                </a:r>
                <a:r>
                  <a:rPr lang="zh-TW" altLang="en-US" dirty="0"/>
                  <a:t>的準確值並不是很重要，這邊只是先定一個參考值，到後面可能會需要微調。</a:t>
                </a:r>
                <a:endParaRPr lang="en-US" altLang="zh-TW" dirty="0"/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893AB9BA-0957-3F72-B350-20F35FFE23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38275"/>
                <a:ext cx="10515600" cy="4738688"/>
              </a:xfrm>
              <a:blipFill>
                <a:blip r:embed="rId2"/>
                <a:stretch>
                  <a:fillRect l="-1217" t="-6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3355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652D91-5C33-DD43-E9F5-4EA746906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203201"/>
            <a:ext cx="10515600" cy="492124"/>
          </a:xfrm>
        </p:spPr>
        <p:txBody>
          <a:bodyPr>
            <a:normAutofit fontScale="90000"/>
          </a:bodyPr>
          <a:lstStyle/>
          <a:p>
            <a:r>
              <a:rPr lang="zh-TW" altLang="en-US" dirty="0"/>
              <a:t>第四步：計算</a:t>
            </a:r>
            <a:r>
              <a:rPr lang="en-US" altLang="zh-TW" dirty="0" err="1"/>
              <a:t>neff</a:t>
            </a:r>
            <a:r>
              <a:rPr lang="zh-TW" altLang="en-US" dirty="0"/>
              <a:t>隨電壓變化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11745941-5CEE-69CB-77BE-63322440A7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1500" y="1062831"/>
                <a:ext cx="10515600" cy="5499894"/>
              </a:xfrm>
            </p:spPr>
            <p:txBody>
              <a:bodyPr>
                <a:normAutofit/>
              </a:bodyPr>
              <a:lstStyle/>
              <a:p>
                <a:r>
                  <a:rPr lang="zh-TW" altLang="en-US" dirty="0"/>
                  <a:t>先計算</a:t>
                </a:r>
                <a:r>
                  <a:rPr lang="en-US" altLang="zh-TW" dirty="0"/>
                  <a:t>modulation efficiency</a:t>
                </a:r>
              </a:p>
              <a:p>
                <a:pPr lvl="1"/>
                <a:r>
                  <a:rPr lang="zh-TW" altLang="en-US" dirty="0"/>
                  <a:t>計算共振波長隨電壓變化比例 </a:t>
                </a:r>
                <a:r>
                  <a:rPr lang="en-US" altLang="zh-TW" dirty="0"/>
                  <a:t>me (modulation efficiency ,pm/V)</a:t>
                </a:r>
                <a:r>
                  <a:rPr lang="zh-TW" altLang="en-US" dirty="0"/>
                  <a:t>，如果</a:t>
                </a:r>
                <a:r>
                  <a:rPr lang="en-US" altLang="zh-TW" dirty="0"/>
                  <a:t>paper</a:t>
                </a:r>
                <a:r>
                  <a:rPr lang="zh-TW" altLang="en-US" dirty="0"/>
                  <a:t>有給就可以跳過這個</a:t>
                </a:r>
                <a:endParaRPr lang="en-US" altLang="zh-TW" dirty="0"/>
              </a:p>
              <a:p>
                <a:pPr lvl="1"/>
                <a:r>
                  <a:rPr lang="zh-TW" altLang="en-US" dirty="0"/>
                  <a:t>一般</a:t>
                </a:r>
                <a:r>
                  <a:rPr lang="en-US" altLang="zh-TW" dirty="0"/>
                  <a:t>paper</a:t>
                </a:r>
                <a:r>
                  <a:rPr lang="zh-TW" altLang="en-US" dirty="0"/>
                  <a:t>應該會給</a:t>
                </a:r>
                <a:r>
                  <a:rPr lang="en-US" altLang="zh-TW" dirty="0" err="1"/>
                  <a:t>VpiL</a:t>
                </a:r>
                <a:r>
                  <a:rPr lang="zh-TW" altLang="en-US" dirty="0"/>
                  <a:t>，除以</a:t>
                </a:r>
                <a:r>
                  <a:rPr lang="en-US" altLang="zh-TW" dirty="0"/>
                  <a:t>L</a:t>
                </a:r>
                <a:r>
                  <a:rPr lang="zh-TW" altLang="en-US" dirty="0"/>
                  <a:t>可以算出</a:t>
                </a:r>
                <a:r>
                  <a:rPr lang="en-US" altLang="zh-TW" dirty="0" err="1"/>
                  <a:t>Vpi</a:t>
                </a:r>
                <a:endParaRPr lang="en-US" altLang="zh-TW" dirty="0"/>
              </a:p>
              <a:p>
                <a:pPr lvl="1"/>
                <a:r>
                  <a:rPr lang="zh-TW" altLang="en-US" dirty="0"/>
                  <a:t>依公式：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𝑚𝑒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𝐹𝑆𝑅</m:t>
                        </m:r>
                      </m:num>
                      <m:den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2∗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TW" dirty="0"/>
                  <a:t> , </a:t>
                </a:r>
                <a:r>
                  <a:rPr lang="zh-TW" altLang="en-US" dirty="0"/>
                  <a:t>即可得到</a:t>
                </a:r>
                <a:r>
                  <a:rPr lang="en-US" altLang="zh-TW" dirty="0"/>
                  <a:t>me</a:t>
                </a:r>
              </a:p>
              <a:p>
                <a:r>
                  <a:rPr lang="zh-TW" altLang="en-US" dirty="0"/>
                  <a:t>再來計算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num>
                      <m:den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den>
                    </m:f>
                  </m:oMath>
                </a14:m>
                <a:r>
                  <a:rPr lang="en-US" altLang="zh-TW" dirty="0"/>
                  <a:t> (</a:t>
                </a:r>
                <a:r>
                  <a:rPr lang="zh-TW" altLang="en-US" dirty="0"/>
                  <a:t>頻率對波長微分</a:t>
                </a:r>
                <a:r>
                  <a:rPr lang="en-US" altLang="zh-TW" dirty="0"/>
                  <a:t>)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=</a:t>
                </a:r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sSubSup>
                          <m:sSubSup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𝑟𝑒𝑠</m:t>
                            </m:r>
                          </m:sub>
                          <m:sup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endParaRPr lang="en-US" altLang="zh-TW" dirty="0"/>
              </a:p>
              <a:p>
                <a:r>
                  <a:rPr lang="zh-TW" altLang="en-US" dirty="0"/>
                  <a:t>然後依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𝑑𝑛</m:t>
                        </m:r>
                      </m:num>
                      <m:den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𝑑𝑉</m:t>
                        </m:r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𝑚𝑒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num>
                      <m:den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den>
                    </m:f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altLang="zh-TW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TW" b="0" i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TW" b="0" i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latin typeface="Cambria Math" panose="02040503050406030204" pitchFamily="18" charset="0"/>
                                  </a:rPr>
                                  <m:t>g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𝑟𝑒𝑠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altLang="zh-TW" b="0" i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 panose="02040503050406030204" pitchFamily="18" charset="0"/>
                          </a:rPr>
                          <m:t>cavity</m:t>
                        </m:r>
                        <m:r>
                          <a:rPr lang="en-US" altLang="zh-TW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 panose="02040503050406030204" pitchFamily="18" charset="0"/>
                          </a:rPr>
                          <m:t>length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 panose="02040503050406030204" pitchFamily="18" charset="0"/>
                          </a:rPr>
                          <m:t>active</m:t>
                        </m:r>
                        <m:r>
                          <a:rPr lang="en-US" altLang="zh-TW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 panose="02040503050406030204" pitchFamily="18" charset="0"/>
                          </a:rPr>
                          <m:t>length</m:t>
                        </m:r>
                      </m:den>
                    </m:f>
                  </m:oMath>
                </a14:m>
                <a:endParaRPr lang="en-US" altLang="zh-TW" dirty="0"/>
              </a:p>
              <a:p>
                <a:r>
                  <a:rPr lang="zh-TW" altLang="en-US" dirty="0"/>
                  <a:t>最後類似第二步，定義離散個</a:t>
                </a:r>
                <a:r>
                  <a:rPr lang="en-US" altLang="zh-TW" dirty="0" err="1"/>
                  <a:t>neff</a:t>
                </a:r>
                <a:r>
                  <a:rPr lang="zh-TW" altLang="en-US" dirty="0"/>
                  <a:t>的點，隨負偏壓線性增加，然後輸入自定義的</a:t>
                </a:r>
                <a:r>
                  <a:rPr lang="en-US" altLang="zh-TW" dirty="0" err="1"/>
                  <a:t>n_fit</a:t>
                </a:r>
                <a:r>
                  <a:rPr lang="zh-TW" altLang="en-US" dirty="0"/>
                  <a:t>類別中</a:t>
                </a:r>
                <a:endParaRPr lang="en-US" altLang="zh-TW" dirty="0"/>
              </a:p>
              <a:p>
                <a:r>
                  <a:rPr lang="en-US" altLang="zh-TW" dirty="0"/>
                  <a:t>(</a:t>
                </a:r>
                <a:r>
                  <a:rPr lang="zh-TW" altLang="en-US" dirty="0"/>
                  <a:t>離散點： </a:t>
                </a:r>
                <a:r>
                  <a:rPr lang="en-US" altLang="zh-TW" dirty="0"/>
                  <a:t>voltage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=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[0,-0.5,-1,-1.5,-2])</a:t>
                </a:r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11745941-5CEE-69CB-77BE-63322440A7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1500" y="1062831"/>
                <a:ext cx="10515600" cy="5499894"/>
              </a:xfrm>
              <a:blipFill>
                <a:blip r:embed="rId2"/>
                <a:stretch>
                  <a:fillRect l="-1043" t="-188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4976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456009-BA7C-F532-4B3C-918E32A8C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7850"/>
          </a:xfrm>
        </p:spPr>
        <p:txBody>
          <a:bodyPr>
            <a:normAutofit fontScale="90000"/>
          </a:bodyPr>
          <a:lstStyle/>
          <a:p>
            <a:r>
              <a:rPr lang="zh-TW" altLang="en-US" dirty="0"/>
              <a:t>第五步：定義等效電路參數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5EC5FB95-6519-FB2B-4A90-F82DF0C603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7578" y="2142946"/>
            <a:ext cx="2638793" cy="1286054"/>
          </a:xfr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ADEFB085-E41B-B17A-9DA7-00C113786DDD}"/>
                  </a:ext>
                </a:extLst>
              </p:cNvPr>
              <p:cNvSpPr txBox="1"/>
              <p:nvPr/>
            </p:nvSpPr>
            <p:spPr>
              <a:xfrm>
                <a:off x="190500" y="1295400"/>
                <a:ext cx="11696700" cy="54883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zh-TW" altLang="en-US" sz="2800" dirty="0"/>
                  <a:t>模擬的等效電路如下圖，除了</a:t>
                </a:r>
                <a:r>
                  <a:rPr lang="en-US" altLang="zh-TW" sz="2800" dirty="0" err="1"/>
                  <a:t>Cj</a:t>
                </a:r>
                <a:r>
                  <a:rPr lang="zh-TW" altLang="en-US" sz="2800" dirty="0"/>
                  <a:t>以外的固定參數需要在</a:t>
                </a:r>
                <a:r>
                  <a:rPr lang="en-US" altLang="zh-TW" sz="2800" dirty="0"/>
                  <a:t>paper</a:t>
                </a:r>
                <a:r>
                  <a:rPr lang="zh-TW" altLang="en-US" sz="2800" dirty="0"/>
                  <a:t>中找到</a:t>
                </a:r>
                <a:endParaRPr lang="en-US" altLang="zh-TW" sz="2800" dirty="0"/>
              </a:p>
              <a:p>
                <a:endParaRPr lang="en-US" altLang="zh-TW" sz="2800" dirty="0"/>
              </a:p>
              <a:p>
                <a:endParaRPr lang="en-US" altLang="zh-TW" sz="2800" dirty="0"/>
              </a:p>
              <a:p>
                <a:endParaRPr lang="en-US" altLang="zh-TW" sz="2800" dirty="0"/>
              </a:p>
              <a:p>
                <a:endParaRPr lang="en-US" altLang="zh-TW" sz="2800" dirty="0"/>
              </a:p>
              <a:p>
                <a:endParaRPr lang="en-US" altLang="zh-TW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zh-TW" altLang="en-US" sz="2800" dirty="0"/>
                  <a:t>如果要進行大訊號模擬</a:t>
                </a:r>
                <a:r>
                  <a:rPr lang="en-US" altLang="zh-TW" sz="2800" dirty="0"/>
                  <a:t>(</a:t>
                </a:r>
                <a:r>
                  <a:rPr lang="en-US" altLang="zh-TW" sz="2800" dirty="0" err="1"/>
                  <a:t>Cj</a:t>
                </a:r>
                <a:r>
                  <a:rPr lang="zh-TW" altLang="en-US" sz="2800" dirty="0"/>
                  <a:t>會隨電壓變化</a:t>
                </a:r>
                <a:r>
                  <a:rPr lang="en-US" altLang="zh-TW" sz="2800" dirty="0"/>
                  <a:t>)</a:t>
                </a:r>
                <a:r>
                  <a:rPr lang="zh-TW" altLang="en-US" sz="2800" dirty="0"/>
                  <a:t>，就必須從</a:t>
                </a:r>
                <a:r>
                  <a:rPr lang="en-US" altLang="zh-TW" sz="2800" dirty="0"/>
                  <a:t>paper</a:t>
                </a:r>
                <a:r>
                  <a:rPr lang="zh-TW" altLang="en-US" sz="2800" dirty="0"/>
                  <a:t>中找到至少兩點</a:t>
                </a:r>
                <a:r>
                  <a:rPr lang="en-US" altLang="zh-TW" sz="2800" dirty="0" err="1"/>
                  <a:t>Cj</a:t>
                </a:r>
                <a:r>
                  <a:rPr lang="zh-TW" altLang="en-US" sz="2800" dirty="0"/>
                  <a:t>的值，否則只能做</a:t>
                </a:r>
                <a:r>
                  <a:rPr lang="en-US" altLang="zh-TW" sz="2800" dirty="0" err="1"/>
                  <a:t>Vbias</a:t>
                </a:r>
                <a:r>
                  <a:rPr lang="zh-TW" altLang="en-US" sz="2800" dirty="0"/>
                  <a:t>上的小訊號模擬。</a:t>
                </a:r>
                <a:endParaRPr lang="en-US" altLang="zh-TW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US" altLang="zh-TW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sSup>
                          <m:sSupPr>
                            <m:ctrlP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TW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8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altLang="zh-TW" sz="2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28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  <m:t>0.5</m:t>
                            </m:r>
                          </m:sup>
                        </m:sSup>
                      </m:den>
                    </m:f>
                  </m:oMath>
                </a14:m>
                <a:r>
                  <a:rPr lang="zh-TW" altLang="en-US" sz="2800" dirty="0"/>
                  <a:t> ，如果只有一點</a:t>
                </a:r>
                <a:r>
                  <a:rPr lang="en-US" altLang="zh-TW" sz="2800" dirty="0" err="1"/>
                  <a:t>Cj</a:t>
                </a:r>
                <a:r>
                  <a:rPr lang="zh-TW" altLang="en-US" sz="2800" dirty="0"/>
                  <a:t>，則先自定一個合理的</a:t>
                </a:r>
                <a:r>
                  <a:rPr lang="en-US" altLang="zh-TW" sz="2800" dirty="0"/>
                  <a:t>a</a:t>
                </a:r>
                <a:r>
                  <a:rPr lang="zh-TW" altLang="en-US" sz="2800" dirty="0"/>
                  <a:t>值，再透過已知的</a:t>
                </a:r>
                <a:r>
                  <a:rPr lang="en-US" altLang="zh-TW" sz="2800" dirty="0" err="1"/>
                  <a:t>Cj</a:t>
                </a:r>
                <a:r>
                  <a:rPr lang="zh-TW" altLang="en-US" sz="2800" dirty="0"/>
                  <a:t>計算</a:t>
                </a:r>
                <a:r>
                  <a:rPr lang="en-US" altLang="zh-TW" sz="2800" dirty="0"/>
                  <a:t>b</a:t>
                </a:r>
                <a:r>
                  <a:rPr lang="zh-TW" altLang="en-US" sz="2800" dirty="0"/>
                  <a:t>，然後計算出</a:t>
                </a:r>
                <a:r>
                  <a:rPr lang="en-US" altLang="zh-TW" sz="2800" dirty="0"/>
                  <a:t>0V</a:t>
                </a:r>
                <a:r>
                  <a:rPr lang="zh-TW" altLang="en-US" sz="2800" dirty="0"/>
                  <a:t>的</a:t>
                </a:r>
                <a:r>
                  <a:rPr lang="en-US" altLang="zh-TW" sz="2800" dirty="0" err="1"/>
                  <a:t>Cj</a:t>
                </a:r>
                <a:r>
                  <a:rPr lang="zh-TW" altLang="en-US" sz="2800" dirty="0"/>
                  <a:t>和</a:t>
                </a:r>
                <a:r>
                  <a:rPr lang="en-US" altLang="zh-TW" sz="2800" dirty="0"/>
                  <a:t>-1V</a:t>
                </a:r>
                <a:r>
                  <a:rPr lang="zh-TW" altLang="en-US" sz="2800" dirty="0"/>
                  <a:t>的</a:t>
                </a:r>
                <a:r>
                  <a:rPr lang="en-US" altLang="zh-TW" sz="2800" dirty="0" err="1"/>
                  <a:t>Cj</a:t>
                </a:r>
                <a:r>
                  <a:rPr lang="zh-TW" altLang="en-US" sz="2800" dirty="0"/>
                  <a:t>，後面</a:t>
                </a:r>
                <a:r>
                  <a:rPr lang="en-US" altLang="zh-TW" sz="2800" dirty="0"/>
                  <a:t>input driver</a:t>
                </a:r>
                <a:r>
                  <a:rPr lang="zh-TW" altLang="en-US" sz="2800" dirty="0"/>
                  <a:t>類別時用到</a:t>
                </a:r>
                <a:r>
                  <a:rPr lang="en-US" altLang="zh-TW" sz="2800" dirty="0"/>
                  <a:t>(a</a:t>
                </a:r>
                <a:r>
                  <a:rPr lang="zh-TW" altLang="en-US" sz="2800" dirty="0"/>
                  <a:t>值是否合理可以把</a:t>
                </a:r>
                <a:r>
                  <a:rPr lang="en-US" altLang="zh-TW" sz="2800" dirty="0" err="1"/>
                  <a:t>Cj</a:t>
                </a:r>
                <a:r>
                  <a:rPr lang="en-US" altLang="zh-TW" sz="2800" dirty="0"/>
                  <a:t> vs V</a:t>
                </a:r>
                <a:r>
                  <a:rPr lang="zh-TW" altLang="en-US" sz="2800" dirty="0"/>
                  <a:t>畫出來看看</a:t>
                </a:r>
                <a:r>
                  <a:rPr lang="en-US" altLang="zh-TW" sz="2800" dirty="0"/>
                  <a:t>)</a:t>
                </a:r>
              </a:p>
            </p:txBody>
          </p:sp>
        </mc:Choice>
        <mc:Fallback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ADEFB085-E41B-B17A-9DA7-00C113786D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" y="1295400"/>
                <a:ext cx="11696700" cy="5488362"/>
              </a:xfrm>
              <a:prstGeom prst="rect">
                <a:avLst/>
              </a:prstGeom>
              <a:blipFill>
                <a:blip r:embed="rId3"/>
                <a:stretch>
                  <a:fillRect l="-938" t="-1222" b="-211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0786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514E59-80D5-F4CB-0E85-126206998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96900"/>
          </a:xfrm>
        </p:spPr>
        <p:txBody>
          <a:bodyPr>
            <a:normAutofit fontScale="90000"/>
          </a:bodyPr>
          <a:lstStyle/>
          <a:p>
            <a:r>
              <a:rPr lang="zh-TW" altLang="en-US" dirty="0"/>
              <a:t>第六步：初步模擬</a:t>
            </a:r>
            <a:r>
              <a:rPr lang="en-US" altLang="zh-TW" dirty="0"/>
              <a:t>Transmission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7D157850-7C89-2BB9-12AF-9119CB5848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00150"/>
                <a:ext cx="10515600" cy="4976813"/>
              </a:xfrm>
            </p:spPr>
            <p:txBody>
              <a:bodyPr/>
              <a:lstStyle/>
              <a:p>
                <a:r>
                  <a:rPr lang="zh-TW" altLang="en-US" dirty="0"/>
                  <a:t>先初步模擬</a:t>
                </a:r>
                <a:r>
                  <a:rPr lang="en-US" altLang="zh-TW" dirty="0"/>
                  <a:t>Transmission</a:t>
                </a:r>
                <a:r>
                  <a:rPr lang="zh-TW" altLang="en-US" dirty="0"/>
                  <a:t>，以及確認</a:t>
                </a:r>
                <a:r>
                  <a:rPr lang="en-US" altLang="zh-TW" dirty="0"/>
                  <a:t>Q</a:t>
                </a:r>
                <a:r>
                  <a:rPr lang="zh-TW" altLang="en-US" dirty="0"/>
                  <a:t>值是否接近</a:t>
                </a:r>
                <a:r>
                  <a:rPr lang="en-US" altLang="zh-TW" dirty="0"/>
                  <a:t>paper</a:t>
                </a:r>
                <a:r>
                  <a:rPr lang="zh-TW" altLang="en-US" dirty="0"/>
                  <a:t>。</a:t>
                </a:r>
                <a:endParaRPr lang="en-US" altLang="zh-TW" dirty="0"/>
              </a:p>
              <a:p>
                <a:r>
                  <a:rPr lang="zh-TW" altLang="en-US" dirty="0"/>
                  <a:t>若</a:t>
                </a:r>
                <a:r>
                  <a:rPr lang="en-US" altLang="zh-TW" dirty="0"/>
                  <a:t>Q</a:t>
                </a:r>
                <a:r>
                  <a:rPr lang="zh-TW" altLang="en-US" dirty="0"/>
                  <a:t>值與</a:t>
                </a:r>
                <a:r>
                  <a:rPr lang="en-US" altLang="zh-TW" dirty="0"/>
                  <a:t>paper</a:t>
                </a:r>
                <a:r>
                  <a:rPr lang="zh-TW" altLang="en-US" dirty="0"/>
                  <a:t>有較大落差，則需要回到第三步重新設定</a:t>
                </a:r>
                <a:r>
                  <a:rPr lang="en-US" altLang="zh-TW" dirty="0"/>
                  <a:t>m</a:t>
                </a:r>
                <a:r>
                  <a:rPr lang="zh-TW" altLang="en-US" dirty="0"/>
                  <a:t>值，使得程式計算的共振波長落在</a:t>
                </a:r>
                <a:r>
                  <a:rPr lang="en-US" altLang="zh-TW" dirty="0"/>
                  <a:t>paper</a:t>
                </a:r>
                <a:r>
                  <a:rPr lang="zh-TW" altLang="en-US" dirty="0"/>
                  <a:t>的共振波長上</a:t>
                </a:r>
                <a:endParaRPr lang="en-US" altLang="zh-TW" dirty="0"/>
              </a:p>
              <a:p>
                <a:r>
                  <a:rPr lang="zh-TW" altLang="en-US" dirty="0"/>
                  <a:t>若相差很大，則可以設定</a:t>
                </a:r>
                <a:r>
                  <a:rPr lang="en-US" altLang="zh-TW" dirty="0"/>
                  <a:t>ring</a:t>
                </a:r>
                <a:r>
                  <a:rPr lang="zh-TW" altLang="en-US" dirty="0"/>
                  <a:t>類別的</a:t>
                </a:r>
                <a:r>
                  <a:rPr lang="en-US" altLang="zh-TW" dirty="0" err="1"/>
                  <a:t>FSR_shift</a:t>
                </a:r>
                <a:r>
                  <a:rPr lang="zh-TW" altLang="en-US" dirty="0"/>
                  <a:t>參數為</a:t>
                </a:r>
                <a:r>
                  <a:rPr lang="en-US" altLang="zh-TW" dirty="0"/>
                  <a:t>+-1 or +-2</a:t>
                </a:r>
                <a:r>
                  <a:rPr lang="zh-TW" altLang="en-US" dirty="0"/>
                  <a:t>，這個參數可以控制讓共振波長落在前後第</a:t>
                </a:r>
                <a:r>
                  <a:rPr lang="en-US" altLang="zh-TW" dirty="0"/>
                  <a:t>N</a:t>
                </a:r>
                <a:r>
                  <a:rPr lang="zh-TW" altLang="en-US" dirty="0"/>
                  <a:t>個</a:t>
                </a:r>
                <a:r>
                  <a:rPr lang="en-US" altLang="zh-TW" dirty="0"/>
                  <a:t>free spectral range</a:t>
                </a:r>
                <a:r>
                  <a:rPr lang="zh-TW" altLang="en-US" dirty="0"/>
                  <a:t>上。</a:t>
                </a:r>
                <a:endParaRPr lang="en-US" altLang="zh-TW" dirty="0"/>
              </a:p>
              <a:p>
                <a:endParaRPr lang="en-US" altLang="zh-TW" dirty="0"/>
              </a:p>
              <a:p>
                <a:r>
                  <a:rPr lang="zh-TW" altLang="en-US" dirty="0"/>
                  <a:t>再來是</a:t>
                </a:r>
                <a:r>
                  <a:rPr lang="en-US" altLang="zh-TW" dirty="0"/>
                  <a:t>deep</a:t>
                </a:r>
                <a:r>
                  <a:rPr lang="zh-TW" altLang="en-US" dirty="0"/>
                  <a:t>深度，需要重新調整第一步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𝑒𝑛𝑒𝑟𝑔𝑦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𝑒𝑛𝑒𝑟𝑔𝑦</m:t>
                            </m:r>
                          </m:sub>
                        </m:sSub>
                      </m:e>
                    </m:d>
                  </m:oMath>
                </a14:m>
                <a:r>
                  <a:rPr lang="zh-TW" altLang="en-US" dirty="0"/>
                  <a:t>各自的大小比例。使</a:t>
                </a:r>
                <a:r>
                  <a:rPr lang="en-US" altLang="zh-TW" dirty="0"/>
                  <a:t>0V</a:t>
                </a:r>
                <a:r>
                  <a:rPr lang="zh-TW" altLang="en-US" dirty="0"/>
                  <a:t>的</a:t>
                </a:r>
                <a:r>
                  <a:rPr lang="en-US" altLang="zh-TW" dirty="0"/>
                  <a:t>deep</a:t>
                </a:r>
                <a:r>
                  <a:rPr lang="zh-TW" altLang="en-US" dirty="0"/>
                  <a:t>與</a:t>
                </a:r>
                <a:r>
                  <a:rPr lang="en-US" altLang="zh-TW" dirty="0"/>
                  <a:t>paper</a:t>
                </a:r>
                <a:r>
                  <a:rPr lang="zh-TW" altLang="en-US" dirty="0"/>
                  <a:t>相同</a:t>
                </a:r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7D157850-7C89-2BB9-12AF-9119CB5848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00150"/>
                <a:ext cx="10515600" cy="4976813"/>
              </a:xfrm>
              <a:blipFill>
                <a:blip r:embed="rId2"/>
                <a:stretch>
                  <a:fillRect l="-1043" t="-2206" r="-35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85262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98BC57-DBBE-4F59-A2B5-F9D0213B6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20699"/>
          </a:xfrm>
        </p:spPr>
        <p:txBody>
          <a:bodyPr>
            <a:normAutofit fontScale="90000"/>
          </a:bodyPr>
          <a:lstStyle/>
          <a:p>
            <a:r>
              <a:rPr lang="zh-TW" altLang="en-US" dirty="0"/>
              <a:t>第七步：模擬隨電壓變化的頻譜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AFE9CD4-E06C-DFC0-908A-DE6ED1B680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3500"/>
            <a:ext cx="10515600" cy="4843463"/>
          </a:xfrm>
        </p:spPr>
        <p:txBody>
          <a:bodyPr/>
          <a:lstStyle/>
          <a:p>
            <a:r>
              <a:rPr lang="zh-TW" altLang="en-US" dirty="0"/>
              <a:t>依照</a:t>
            </a:r>
            <a:r>
              <a:rPr lang="en-US" altLang="zh-TW" dirty="0"/>
              <a:t>paper</a:t>
            </a:r>
            <a:r>
              <a:rPr lang="zh-TW" altLang="en-US" dirty="0"/>
              <a:t>的圖模擬不同電壓下的頻譜，並觀察模擬的</a:t>
            </a:r>
            <a:r>
              <a:rPr lang="en-US" altLang="zh-TW" dirty="0"/>
              <a:t>deep</a:t>
            </a:r>
            <a:r>
              <a:rPr lang="zh-TW" altLang="en-US" dirty="0"/>
              <a:t>變化是否接近</a:t>
            </a:r>
            <a:r>
              <a:rPr lang="en-US" altLang="zh-TW" dirty="0"/>
              <a:t>paper</a:t>
            </a:r>
            <a:r>
              <a:rPr lang="zh-TW" altLang="en-US" dirty="0"/>
              <a:t>結果，若否則需回到第二步調整</a:t>
            </a:r>
            <a:r>
              <a:rPr lang="en-US" altLang="zh-TW" dirty="0"/>
              <a:t>b, c</a:t>
            </a:r>
            <a:r>
              <a:rPr lang="zh-TW" altLang="en-US" dirty="0"/>
              <a:t>參數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確認調變效率與</a:t>
            </a:r>
            <a:r>
              <a:rPr lang="en-US" altLang="zh-TW" dirty="0"/>
              <a:t>paper</a:t>
            </a:r>
            <a:r>
              <a:rPr lang="zh-TW" altLang="en-US" dirty="0"/>
              <a:t>的結果相近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若以上皆正確，則成功模擬出實驗的</a:t>
            </a:r>
            <a:r>
              <a:rPr lang="en-US" altLang="zh-TW" dirty="0"/>
              <a:t>Transmission</a:t>
            </a:r>
            <a:r>
              <a:rPr lang="zh-TW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9721944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58ED62-29DE-5B9B-D9D5-280DB03CC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7FE9D25-424C-85A7-2325-118E126189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17442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訂 1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893</Words>
  <Application>Microsoft Office PowerPoint</Application>
  <PresentationFormat>寬螢幕</PresentationFormat>
  <Paragraphs>71</Paragraphs>
  <Slides>12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7" baseType="lpstr">
      <vt:lpstr>Arial</vt:lpstr>
      <vt:lpstr>Cambria Math</vt:lpstr>
      <vt:lpstr>Times New Roman</vt:lpstr>
      <vt:lpstr>Wingdings</vt:lpstr>
      <vt:lpstr>Office 佈景主題</vt:lpstr>
      <vt:lpstr>PowerPoint 簡報</vt:lpstr>
      <vt:lpstr>簡報內容</vt:lpstr>
      <vt:lpstr>必須知道的參數</vt:lpstr>
      <vt:lpstr>前言</vt:lpstr>
      <vt:lpstr>第一步: 計算total loss</vt:lpstr>
      <vt:lpstr>第二步：定義loss隨電壓變化</vt:lpstr>
      <vt:lpstr>第三步：計算中心波長折射率</vt:lpstr>
      <vt:lpstr>第四步：計算neff隨電壓變化</vt:lpstr>
      <vt:lpstr>第五步：定義等效電路參數</vt:lpstr>
      <vt:lpstr>第六步：初步模擬Transmission</vt:lpstr>
      <vt:lpstr>第七步：模擬隨電壓變化的頻譜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 kev</dc:creator>
  <cp:lastModifiedBy>in kev</cp:lastModifiedBy>
  <cp:revision>304</cp:revision>
  <dcterms:created xsi:type="dcterms:W3CDTF">2025-06-19T09:46:39Z</dcterms:created>
  <dcterms:modified xsi:type="dcterms:W3CDTF">2025-06-19T13:13:34Z</dcterms:modified>
</cp:coreProperties>
</file>