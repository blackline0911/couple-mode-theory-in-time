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79" r:id="rId4"/>
    <p:sldId id="280" r:id="rId5"/>
    <p:sldId id="281" r:id="rId6"/>
    <p:sldId id="278" r:id="rId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23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0CCD09-6179-B2EA-D592-2E607C07F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D966AF0-7D7C-0E66-557C-25A45B5C0D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39479B-3539-B838-4ADB-F121D409F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9347C52-AE39-3E2E-5D3A-FFD5379F3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8E46B51-F814-4F36-3DBC-9E2CC37F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2225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2998F8-B587-CE1F-FD33-602404220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EB4D0-BF9D-57BE-180A-2472EE6F8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940C8F4-7267-E1AF-A021-37EB6CF7F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AAFAF23-8D8D-39FF-6967-22AF51C16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405834-1424-6BBC-D0E5-676F087C5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452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589A39-54A9-B543-04EA-0B615DB93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46A3F67-6420-C699-5C00-6A96749C1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726750-1638-56D8-BD13-32B93FA40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F22A0C1-2E3A-897B-E263-77801B0BB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616EFCB-520F-F64B-C806-5DE839497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9317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2D8223-8FAD-8332-8001-475E542FA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38111D-D36B-3AB8-9DF3-4422D39697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E0B537C-B97F-CE5B-09C2-C01490BC81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C00DD83-23D9-5E4B-AC7C-9EAE7A8F1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0BF7B23-7B0F-AE28-7CCF-852DD66E5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25FD29A-38C8-BE18-4EDB-9619B0B74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1864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4502FA-C4B1-6534-D9E1-D192D1891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9D4CB0E-605D-D367-91ED-D4A96B8E0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7E2CEAC-1644-9063-527B-89E736E379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75230EC-80E9-A155-D849-03CCA517BD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6F0C5CE-0DFA-5697-53D3-EF886EEF5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6B9E893-E790-3A0A-0008-2D8C079E5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2025/7/10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0567A004-9E64-9F16-928A-7DBC181CE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5677653-7C17-B653-2937-CD51DB53F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7684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57AD5E-CEBE-96D5-76E3-FD3D5935A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20579A5-1A72-131A-8959-113079740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0950EE0-2FF9-FA9F-062C-C5EDDA070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BF1C5A-B507-0133-1560-C2FCE8407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552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1549B428-4DB9-B3FB-9E1B-F2789D4F1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2025/7/10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D4A5247-F226-F826-C61E-E05ADAF97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BDF8B3D-0DFC-3A35-97EB-B24EAD24A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5108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D2C6F8-875D-5503-A1FE-D155420FA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89C59F-EBD0-0039-6E35-E46D63309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02DAD28-8365-6C22-AB0F-B07E0C98D4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A93DF8E-7A7C-9407-F80C-889B299B8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3037C85-423B-6BD0-AEA5-78FFA80B8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52BEE19-A6BC-3520-55F9-DD917A5DA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0783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6B9042-E2BE-A994-8EFA-D03DB8B26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6497A3C8-E965-0318-73C6-CC25BF2E20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0AE2861-E341-9A37-7CDF-B0F30E355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D6AB228-ABA1-1E65-D548-93BC1C94F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2239DF7-35FF-2F02-EB42-15247F8F1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F070B21-91FC-8AE7-1370-0C8310978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4448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9822D34-C477-7E38-4776-1C826EE70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E88B6D0-2536-3D70-C110-D302EA089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CC700D-0FBA-114D-30DC-3659989FB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186BD34-C841-E09F-3EB3-C378DB54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0CC5E3B-DFB4-22E1-18F4-2C056B86A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4470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C122EB9-B1C4-1F37-D225-0DAA9709F4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F3D5AB4-C2D2-F8D6-C5A2-ACCEB59F37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8FBCB4-E16D-FA99-9184-ED0AD9AC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EC066F9-D591-24A5-3382-298ECDC37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808D629-F9BA-FF45-A7D0-962644B19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8163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BCD04DE-26B2-AC73-BC3E-CA066BEF0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F362C77-8180-345E-5996-025C2D53E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0C9086E-9B00-C9BD-2C64-26AEFA4400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DDD884-4005-48B0-BA66-9591723C410A}" type="datetimeFigureOut">
              <a:rPr lang="zh-TW" altLang="en-US" smtClean="0"/>
              <a:t>2025/7/10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753F8C7-A98E-DBBA-14A5-B3D6E3BE6B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332341A-8E58-B7EB-99EA-EFCF1CFE4E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9368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96D8EF-5D08-14DD-5C6A-4DE9057D5C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9411D34-6F26-4C9B-212F-F6C7706267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678633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3AA223-A3B5-546D-7799-3F3EB444D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67142"/>
            <a:ext cx="10515600" cy="739775"/>
          </a:xfrm>
        </p:spPr>
        <p:txBody>
          <a:bodyPr/>
          <a:lstStyle/>
          <a:p>
            <a:r>
              <a:rPr lang="en-US" altLang="zh-TW" dirty="0"/>
              <a:t>Couple mode theory in time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內容版面配置區 3">
                <a:extLst>
                  <a:ext uri="{FF2B5EF4-FFF2-40B4-BE49-F238E27FC236}">
                    <a16:creationId xmlns:a16="http://schemas.microsoft.com/office/drawing/2014/main" id="{28D2245F-B932-1F80-F0DC-C22156FAF378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75125" y="1117230"/>
                <a:ext cx="8601453" cy="19256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𝑑𝑏</m:t>
                        </m:r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𝑗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𝐿𝐴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𝑆𝑃𝑀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sSup>
                          <m:sSup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2400" i="1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endParaRPr lang="en-US" altLang="zh-TW" sz="2400" i="1" dirty="0">
                  <a:latin typeface="Cambria Math" panose="02040503050406030204" pitchFamily="18" charset="0"/>
                </a:endParaRPr>
              </a:p>
              <a:p>
                <a:endParaRPr lang="en-US" altLang="zh-TW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  <m:d>
                            <m:d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𝑙𝑖𝑛𝑒𝑎𝑟</m:t>
                                  </m:r>
                                </m:sub>
                              </m:s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altLang="zh-TW" sz="2000" b="0" i="1" smtClean="0">
                                          <a:latin typeface="Cambria Math" panose="02040503050406030204" pitchFamily="18" charset="0"/>
                                        </a:rPr>
                                        <m:t>𝑇𝑃𝐴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en-US" altLang="zh-TW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sub>
                                      </m:s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𝑇𝑃𝐴</m:t>
                                      </m:r>
                                    </m:sub>
                                  </m:sSub>
                                </m:den>
                              </m:f>
                              <m:sSup>
                                <m:s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𝐹𝐶𝐴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num>
                                <m:den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4" name="內容版面配置區 3">
                <a:extLst>
                  <a:ext uri="{FF2B5EF4-FFF2-40B4-BE49-F238E27FC236}">
                    <a16:creationId xmlns:a16="http://schemas.microsoft.com/office/drawing/2014/main" id="{28D2245F-B932-1F80-F0DC-C22156FAF37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125" y="1117230"/>
                <a:ext cx="8601453" cy="19256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E9FF1720-884B-BBA0-67B4-80B0E87B0920}"/>
                  </a:ext>
                </a:extLst>
              </p:cNvPr>
              <p:cNvSpPr txBox="1"/>
              <p:nvPr/>
            </p:nvSpPr>
            <p:spPr>
              <a:xfrm>
                <a:off x="75125" y="4947370"/>
                <a:ext cx="11994357" cy="15951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400" i="1" dirty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nor/>
                        </m:rPr>
                        <a:rPr lang="en-US" altLang="zh-TW" sz="2400" b="0" dirty="0"/>
                        <m:t>= </m:t>
                      </m:r>
                      <m:sSub>
                        <m:sSubPr>
                          <m:ctrlP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𝜈</m:t>
                          </m:r>
                          <m:sSup>
                            <m:s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𝐹𝐶𝐴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altLang="zh-TW" sz="2400" dirty="0"/>
              </a:p>
              <a:p>
                <a:pPr/>
                <a:r>
                  <a:rPr lang="en-US" altLang="zh-TW" sz="2400" dirty="0"/>
                  <a:t>(refer: Multi </a:t>
                </a:r>
                <a:r>
                  <a:rPr lang="en-US" altLang="zh-TW" sz="2400" dirty="0" err="1"/>
                  <a:t>bistability</a:t>
                </a:r>
                <a:r>
                  <a:rPr lang="en-US" altLang="zh-TW" sz="2400" dirty="0"/>
                  <a:t> and self-pulsation in nonlinear high- Q silicon </a:t>
                </a:r>
                <a:r>
                  <a:rPr lang="en-US" altLang="zh-TW" sz="2400" dirty="0" err="1"/>
                  <a:t>microring</a:t>
                </a:r>
                <a:r>
                  <a:rPr lang="en-US" altLang="zh-TW" sz="2400" dirty="0"/>
                  <a:t> resonators considering thermo-optical effect.</a:t>
                </a:r>
                <a:r>
                  <a:rPr lang="zh-TW" altLang="en-US" sz="2400" dirty="0"/>
                  <a:t>式</a:t>
                </a:r>
                <a:r>
                  <a:rPr lang="en-US" altLang="zh-TW" sz="2400" dirty="0"/>
                  <a:t>(2)</a:t>
                </a:r>
                <a:r>
                  <a:rPr lang="zh-TW" altLang="en-US" sz="2400" dirty="0"/>
                  <a:t> </a:t>
                </a:r>
                <a:r>
                  <a:rPr lang="en-US" altLang="zh-TW" sz="2400" dirty="0"/>
                  <a:t>)</a:t>
                </a:r>
              </a:p>
            </p:txBody>
          </p:sp>
        </mc:Choice>
        <mc:Fallback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E9FF1720-884B-BBA0-67B4-80B0E87B09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5" y="4947370"/>
                <a:ext cx="11994357" cy="1595180"/>
              </a:xfrm>
              <a:prstGeom prst="rect">
                <a:avLst/>
              </a:prstGeom>
              <a:blipFill>
                <a:blip r:embed="rId3"/>
                <a:stretch>
                  <a:fillRect l="-762" b="-80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03D05E3-DC19-6C74-DD48-EBE73E710E64}"/>
                  </a:ext>
                </a:extLst>
              </p:cNvPr>
              <p:cNvSpPr txBox="1"/>
              <p:nvPr/>
            </p:nvSpPr>
            <p:spPr>
              <a:xfrm>
                <a:off x="75125" y="3353198"/>
                <a:ext cx="7382253" cy="17291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0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𝑡h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𝑆𝑖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𝑆𝑖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𝑒𝑓𝑓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𝑙𝑖𝑛𝑒𝑎𝑟</m:t>
                              </m:r>
                            </m:sub>
                          </m:s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𝑇𝑃𝐴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000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𝑇𝑃𝐴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𝐹𝐶𝐴</m:t>
                              </m:r>
                            </m:sub>
                          </m:s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</m:oMath>
                  </m:oMathPara>
                </a14:m>
                <a:endParaRPr lang="en-US" altLang="zh-TW" sz="2000" b="0" dirty="0"/>
              </a:p>
              <a:p>
                <a:pPr/>
                <a:r>
                  <a:rPr lang="en-US" altLang="zh-TW" sz="2000" dirty="0"/>
                  <a:t>(refer: Multi </a:t>
                </a:r>
                <a:r>
                  <a:rPr lang="en-US" altLang="zh-TW" sz="2000" dirty="0" err="1"/>
                  <a:t>bistability</a:t>
                </a:r>
                <a:r>
                  <a:rPr lang="en-US" altLang="zh-TW" sz="2000" dirty="0"/>
                  <a:t> and self-pulsation in nonlinear high- Q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considering thermo-optical effect.</a:t>
                </a:r>
                <a:r>
                  <a:rPr lang="zh-TW" altLang="en-US" sz="2000" dirty="0"/>
                  <a:t>式</a:t>
                </a:r>
                <a:r>
                  <a:rPr lang="en-US" altLang="zh-TW" sz="2000" dirty="0"/>
                  <a:t>(3)</a:t>
                </a:r>
                <a:r>
                  <a:rPr lang="zh-TW" altLang="en-US" sz="2000" dirty="0"/>
                  <a:t> </a:t>
                </a:r>
                <a:r>
                  <a:rPr lang="en-US" altLang="zh-TW" sz="2000" dirty="0"/>
                  <a:t>)</a:t>
                </a:r>
              </a:p>
              <a:p>
                <a:pPr/>
                <a:endParaRPr lang="zh-TW" altLang="en-US" sz="2000" dirty="0"/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03D05E3-DC19-6C74-DD48-EBE73E710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5" y="3353198"/>
                <a:ext cx="7382253" cy="1729128"/>
              </a:xfrm>
              <a:prstGeom prst="rect">
                <a:avLst/>
              </a:prstGeom>
              <a:blipFill>
                <a:blip r:embed="rId4"/>
                <a:stretch>
                  <a:fillRect l="-8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2236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3708AF-E7F0-F81A-7471-9BFD85FA4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42" y="116474"/>
            <a:ext cx="10515600" cy="164264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參數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044CFE-110E-4710-EFB1-A1DAFD0FC9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2451" y="534233"/>
                <a:ext cx="11377864" cy="546551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   :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𝑒𝑙𝑒𝑐𝑡𝑟𝑖𝑐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𝑓𝑖𝑒𝑙𝑑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𝑟𝑖𝑛𝑔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𝑢𝑛𝑖𝑡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sSup>
                            <m:s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altLang="zh-TW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𝑟𝑒𝑠𝑜𝑛𝑎𝑛𝑡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𝑟𝑎𝑑𝑖𝑎𝑛𝑡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𝑓𝑟𝑒𝑞𝑢𝑒𝑛𝑐𝑦</m:t>
                    </m:r>
                  </m:oMath>
                </a14:m>
                <a:r>
                  <a:rPr lang="en-US" altLang="zh-TW" sz="2000" dirty="0"/>
                  <a:t> (</a:t>
                </a:r>
                <a:r>
                  <a:rPr lang="en-US" altLang="zh-TW" sz="2000" b="0" dirty="0"/>
                  <a:t>wavelength =</a:t>
                </a:r>
                <a:r>
                  <a:rPr lang="en-US" altLang="zh-TW" sz="2000" dirty="0"/>
                  <a:t>1.55945 um)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  :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𝐼𝑛𝑝𝑢𝑡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𝐿𝑎𝑠𝑒𝑟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𝑟𝑎𝑑𝑖𝑎𝑛𝑡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𝑓𝑟𝑒𝑞𝑢𝑒𝑛𝑐𝑦</m:t>
                    </m:r>
                  </m:oMath>
                </a14:m>
                <a:r>
                  <a:rPr lang="en-US" altLang="zh-TW" sz="2000" b="0" dirty="0"/>
                  <a:t> (wavelength = 1.558 um)</a:t>
                </a:r>
              </a:p>
              <a:p>
                <a:pPr marL="0" indent="0">
                  <a:buNone/>
                </a:pPr>
                <a:r>
                  <a:rPr lang="en-US" altLang="zh-TW" sz="2000" dirty="0"/>
                  <a:t>c    : speed of light in vacuum (299792458e6 um/s)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 :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𝐺𝑟𝑜𝑢𝑝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𝑖𝑛𝑑𝑒𝑥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3.9838</m:t>
                          </m:r>
                        </m:e>
                      </m:d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𝐺𝑟𝑜𝑢𝑝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𝑣𝑒𝑙𝑜𝑐𝑖𝑡𝑦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75.252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  <m:f>
                            <m:f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𝑢𝑚</m:t>
                              </m:r>
                            </m:num>
                            <m:den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2000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i="1" dirty="0">
                        <a:latin typeface="Cambria Math" panose="02040503050406030204" pitchFamily="18" charset="0"/>
                      </a:rPr>
                      <m:t>L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altLang="zh-TW" sz="2000" dirty="0"/>
                  <a:t> cavity length (31.41592 um, 5um radius ring)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 :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𝑆𝑒𝑙𝑓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𝑝h𝑎𝑠𝑒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𝑚𝑜𝑑𝑢𝑙𝑎𝑡𝑖𝑜𝑛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𝑐𝑜𝑒𝑓𝑓𝑖𝑐𝑖𝑒𝑛𝑡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(4.5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-09 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𝑚𝑊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000" dirty="0"/>
              </a:p>
              <a:p>
                <a:pPr marL="0" indent="0">
                  <a:buNone/>
                </a:pPr>
                <a:r>
                  <a:rPr lang="en-US" altLang="zh-TW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refer: Multi </a:t>
                </a:r>
                <a:r>
                  <a:rPr lang="en-US" altLang="zh-TW" sz="2000" dirty="0" err="1"/>
                  <a:t>bistability</a:t>
                </a:r>
                <a:r>
                  <a:rPr lang="en-US" altLang="zh-TW" sz="2000" dirty="0"/>
                  <a:t> and self-pulsation in nonlinear high- Q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considering thermo-optical effect. TABLE. 1)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𝑆𝑃𝑀</m:t>
                        </m:r>
                      </m:sub>
                    </m:sSub>
                  </m:oMath>
                </a14:m>
                <a:r>
                  <a:rPr lang="en-US" altLang="zh-TW" sz="2000" dirty="0"/>
                  <a:t>: effective cross section of Kerr effect (0.204 um^2)</a:t>
                </a:r>
              </a:p>
              <a:p>
                <a:pPr marL="0" indent="0">
                  <a:buNone/>
                </a:pPr>
                <a:r>
                  <a:rPr lang="en-US" altLang="zh-TW" sz="2000" dirty="0"/>
                  <a:t>(refer: Multi </a:t>
                </a:r>
                <a:r>
                  <a:rPr lang="en-US" altLang="zh-TW" sz="2000" dirty="0" err="1"/>
                  <a:t>bistability</a:t>
                </a:r>
                <a:r>
                  <a:rPr lang="en-US" altLang="zh-TW" sz="2000" dirty="0"/>
                  <a:t> and self-pulsation in nonlinear high- Q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considering thermo-optical effect. TABLE. 1)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zh-TW" altLang="en-US" sz="2000" dirty="0"/>
                  <a:t>：</a:t>
                </a:r>
                <a:r>
                  <a:rPr lang="en-US" altLang="zh-TW" sz="2000" dirty="0"/>
                  <a:t>index change per Kelvin (0.000195 1/K)</a:t>
                </a:r>
              </a:p>
              <a:p>
                <a:pPr marL="0" indent="0">
                  <a:buNone/>
                </a:pPr>
                <a:r>
                  <a:rPr lang="en-US" altLang="zh-TW" sz="2000" dirty="0"/>
                  <a:t>(refer: Thermal Modelling of Silicon Photonic Ring Modulator with Substrate Undercut </a:t>
                </a:r>
                <a:r>
                  <a:rPr lang="zh-TW" altLang="en-US" sz="2000" dirty="0"/>
                  <a:t>式</a:t>
                </a:r>
                <a:r>
                  <a:rPr lang="en-US" altLang="zh-TW" sz="2000" dirty="0"/>
                  <a:t>(1)</a:t>
                </a:r>
                <a:r>
                  <a:rPr lang="zh-TW" altLang="en-US" sz="2000" dirty="0"/>
                  <a:t>內參數</a:t>
                </a:r>
                <a:r>
                  <a:rPr lang="en-US" altLang="zh-TW" sz="2000" dirty="0"/>
                  <a:t>)</a:t>
                </a:r>
              </a:p>
              <a:p>
                <a:pPr marL="0" indent="0">
                  <a:buNone/>
                </a:pPr>
                <a:endParaRPr lang="en-US" altLang="zh-TW" sz="2000" dirty="0"/>
              </a:p>
              <a:p>
                <a:pPr marL="0" indent="0">
                  <a:buNone/>
                </a:pPr>
                <a:endParaRPr lang="en-US" altLang="zh-TW" sz="2000" dirty="0"/>
              </a:p>
              <a:p>
                <a:pPr marL="0" indent="0">
                  <a:buNone/>
                </a:pPr>
                <a:endParaRPr lang="en-US" altLang="zh-TW" sz="2000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044CFE-110E-4710-EFB1-A1DAFD0FC9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2451" y="534233"/>
                <a:ext cx="11377864" cy="5465514"/>
              </a:xfrm>
              <a:blipFill>
                <a:blip r:embed="rId2"/>
                <a:stretch>
                  <a:fillRect l="-5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1359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D29CDBCC-7DB4-6E03-349A-273C6D54F176}"/>
                  </a:ext>
                </a:extLst>
              </p:cNvPr>
              <p:cNvSpPr txBox="1"/>
              <p:nvPr/>
            </p:nvSpPr>
            <p:spPr>
              <a:xfrm>
                <a:off x="192505" y="59977"/>
                <a:ext cx="10852485" cy="6863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zh-TW" altLang="en-US" sz="2000" dirty="0"/>
                  <a:t>：</a:t>
                </a:r>
                <a:r>
                  <a:rPr lang="en-US" altLang="zh-TW" sz="2000" dirty="0"/>
                  <a:t>amplitude couple photon life time (7.75369666558376 </a:t>
                </a:r>
                <a:r>
                  <a:rPr lang="en-US" altLang="zh-TW" sz="2000" dirty="0" err="1"/>
                  <a:t>ps</a:t>
                </a:r>
                <a:r>
                  <a:rPr lang="en-US" altLang="zh-TW" sz="2000" dirty="0"/>
                  <a:t>)</a:t>
                </a:r>
              </a:p>
              <a:p>
                <a:pPr/>
                <a:endParaRPr lang="en-US" altLang="zh-TW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sz="2000" dirty="0"/>
                  <a:t> amplitude photon life time : 7.650191072370922 ps</a:t>
                </a:r>
              </a:p>
              <a:p>
                <a:pPr/>
                <a:endParaRPr lang="en-US" altLang="zh-TW" sz="2000" dirty="0"/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𝑙𝑖𝑛𝑒𝑎𝑟</m:t>
                        </m:r>
                      </m:sub>
                    </m:sSub>
                  </m:oMath>
                </a14:m>
                <a:r>
                  <a:rPr lang="zh-TW" altLang="en-US" sz="2000" dirty="0"/>
                  <a:t>：</a:t>
                </a:r>
                <a:r>
                  <a:rPr lang="en-US" altLang="zh-TW" sz="2000" dirty="0"/>
                  <a:t>linear absorption coefficient (34.74051370464404 1/cm)</a:t>
                </a:r>
              </a:p>
              <a:p>
                <a:pPr/>
                <a:endParaRPr lang="en-US" altLang="zh-TW" sz="2000" dirty="0"/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𝑇𝑃𝐴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sz="2000" dirty="0"/>
                  <a:t>Two photon absorption coefficient (5e-13 cm/</a:t>
                </a:r>
                <a:r>
                  <a:rPr lang="en-US" altLang="zh-TW" sz="2000" dirty="0" err="1"/>
                  <a:t>mW</a:t>
                </a:r>
                <a:r>
                  <a:rPr lang="en-US" altLang="zh-TW" sz="2000" dirty="0"/>
                  <a:t>)</a:t>
                </a:r>
              </a:p>
              <a:p>
                <a:pPr/>
                <a:r>
                  <a:rPr lang="en-US" altLang="zh-TW" sz="2000" dirty="0"/>
                  <a:t>(refer: Measurement of the Nonlinear Loss and Effective Free Carrier Lifetime in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</a:t>
                </a:r>
                <a:r>
                  <a:rPr lang="zh-TW" altLang="en-US" sz="2000" dirty="0"/>
                  <a:t>式</a:t>
                </a:r>
                <a:r>
                  <a:rPr lang="en-US" altLang="zh-TW" sz="2000" dirty="0"/>
                  <a:t>(10)</a:t>
                </a:r>
                <a14:m>
                  <m:oMath xmlns:m="http://schemas.openxmlformats.org/officeDocument/2006/math">
                    <m:r>
                      <a:rPr lang="en-US" altLang="zh-TW" sz="20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zh-TW" sz="2000" dirty="0"/>
                  <a:t>) </a:t>
                </a:r>
              </a:p>
              <a:p>
                <a:pPr/>
                <a:endParaRPr lang="en-US" altLang="zh-TW" sz="2000" dirty="0"/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𝑇𝑃𝐴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sz="2000" dirty="0"/>
                  <a:t> effective cross section of Two-photon absorption effect (0.1289 um^2)</a:t>
                </a:r>
              </a:p>
              <a:p>
                <a:pPr/>
                <a:r>
                  <a:rPr lang="en-US" altLang="zh-TW" sz="2000" dirty="0"/>
                  <a:t> (refer: Multi </a:t>
                </a:r>
                <a:r>
                  <a:rPr lang="en-US" altLang="zh-TW" sz="2000" dirty="0" err="1"/>
                  <a:t>bistability</a:t>
                </a:r>
                <a:r>
                  <a:rPr lang="en-US" altLang="zh-TW" sz="2000" dirty="0"/>
                  <a:t> and self-pulsation in nonlinear high- Q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considering thermo-optical effect. TABLE. 1)</a:t>
                </a:r>
              </a:p>
              <a:p>
                <a:pPr/>
                <a:endParaRPr lang="en-US" altLang="zh-TW" sz="2000" dirty="0"/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𝐹𝐶𝐴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sz="2000" dirty="0"/>
                  <a:t>effective FCA cross section (1.04e-17 cm^2)</a:t>
                </a:r>
              </a:p>
              <a:p>
                <a:pPr/>
                <a:r>
                  <a:rPr lang="en-US" altLang="zh-TW" sz="2000" dirty="0"/>
                  <a:t>(refer: Measurement of the Nonlinear Loss and Effective Free Carrier Lifetime in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</a:t>
                </a:r>
                <a:r>
                  <a:rPr lang="zh-TW" altLang="en-US" sz="2000" dirty="0"/>
                  <a:t>式</a:t>
                </a:r>
                <a:r>
                  <a:rPr lang="en-US" altLang="zh-TW" sz="2000" dirty="0"/>
                  <a:t>(10)) </a:t>
                </a:r>
              </a:p>
              <a:p>
                <a:pPr/>
                <a:endParaRPr lang="en-US" altLang="zh-TW" sz="2000" dirty="0"/>
              </a:p>
              <a:p>
                <a:pPr/>
                <a:r>
                  <a:rPr lang="en-US" altLang="zh-TW" sz="2000" dirty="0"/>
                  <a:t>N</a:t>
                </a:r>
                <a:r>
                  <a:rPr lang="zh-TW" altLang="en-US" sz="2000" dirty="0"/>
                  <a:t>：</a:t>
                </a:r>
                <a:r>
                  <a:rPr lang="en-US" altLang="zh-TW" sz="2000" dirty="0"/>
                  <a:t>Free carrier density (1/cm^3)</a:t>
                </a:r>
              </a:p>
              <a:p>
                <a:pPr/>
                <a:endParaRPr lang="en-US" altLang="zh-TW" sz="2000" dirty="0"/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zh-TW" altLang="en-US" sz="2000" dirty="0"/>
                  <a:t>：</a:t>
                </a:r>
                <a:r>
                  <a:rPr lang="en-US" altLang="zh-TW" sz="2000" dirty="0"/>
                  <a:t>Input Laser field amplitude</a:t>
                </a:r>
              </a:p>
              <a:p>
                <a:pPr/>
                <a:endParaRPr lang="zh-TW" altLang="en-US" sz="2000" dirty="0"/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D29CDBCC-7DB4-6E03-349A-273C6D54F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05" y="59977"/>
                <a:ext cx="10852485" cy="6863417"/>
              </a:xfrm>
              <a:prstGeom prst="rect">
                <a:avLst/>
              </a:prstGeom>
              <a:blipFill>
                <a:blip r:embed="rId2"/>
                <a:stretch>
                  <a:fillRect l="-618" t="-5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070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3CD989CD-5C31-5A67-B058-8BE4C1BB1F0E}"/>
                  </a:ext>
                </a:extLst>
              </p:cNvPr>
              <p:cNvSpPr txBox="1"/>
              <p:nvPr/>
            </p:nvSpPr>
            <p:spPr>
              <a:xfrm>
                <a:off x="232610" y="236439"/>
                <a:ext cx="10098505" cy="67625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sz="1800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  <m:r>
                      <a:rPr lang="zh-TW" altLang="en-US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dirty="0"/>
                  <a:t>Thermal time constant (fitting value =17.5ns )</a:t>
                </a:r>
              </a:p>
              <a:p>
                <a:pPr/>
                <a:endParaRPr lang="en-US" altLang="zh-TW" dirty="0"/>
              </a:p>
              <a:p>
                <a:pPr/>
                <a:endParaRPr lang="en-US" altLang="zh-TW" dirty="0"/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𝑆𝑖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density of Silicon (2.329e-12 g/um^3)</a:t>
                </a:r>
              </a:p>
              <a:p>
                <a:pPr/>
                <a:r>
                  <a:rPr lang="en-US" altLang="zh-TW" dirty="0"/>
                  <a:t>(refer: Multi </a:t>
                </a:r>
                <a:r>
                  <a:rPr lang="en-US" altLang="zh-TW" dirty="0" err="1"/>
                  <a:t>bistability</a:t>
                </a:r>
                <a:r>
                  <a:rPr lang="en-US" altLang="zh-TW" dirty="0"/>
                  <a:t> and self-pulsation in nonlinear high- Q silicon </a:t>
                </a:r>
                <a:r>
                  <a:rPr lang="en-US" altLang="zh-TW" dirty="0" err="1"/>
                  <a:t>microring</a:t>
                </a:r>
                <a:r>
                  <a:rPr lang="en-US" altLang="zh-TW" dirty="0"/>
                  <a:t> resonators considering thermo-optical effect. TABLE. 1)</a:t>
                </a:r>
              </a:p>
              <a:p>
                <a:pPr/>
                <a:endParaRPr lang="en-US" altLang="zh-TW" dirty="0"/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𝑆𝑖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 specific heat capacity of silicon (713.0 </a:t>
                </a:r>
                <a:r>
                  <a:rPr lang="en-US" altLang="zh-TW" dirty="0" err="1"/>
                  <a:t>mJ</a:t>
                </a:r>
                <a:r>
                  <a:rPr lang="en-US" altLang="zh-TW" dirty="0"/>
                  <a:t>/(g*K))</a:t>
                </a:r>
              </a:p>
              <a:p>
                <a:pPr/>
                <a:r>
                  <a:rPr lang="en-US" altLang="zh-TW" dirty="0"/>
                  <a:t>(refer: Multi </a:t>
                </a:r>
                <a:r>
                  <a:rPr lang="en-US" altLang="zh-TW" dirty="0" err="1"/>
                  <a:t>bistability</a:t>
                </a:r>
                <a:r>
                  <a:rPr lang="en-US" altLang="zh-TW" dirty="0"/>
                  <a:t> and self-pulsation in nonlinear high- Q silicon </a:t>
                </a:r>
                <a:r>
                  <a:rPr lang="en-US" altLang="zh-TW" dirty="0" err="1"/>
                  <a:t>microring</a:t>
                </a:r>
                <a:r>
                  <a:rPr lang="en-US" altLang="zh-TW" dirty="0"/>
                  <a:t> resonators considering thermo-optical effect. TABLE. 1)</a:t>
                </a:r>
              </a:p>
              <a:p>
                <a:pPr/>
                <a:endParaRPr lang="en-US" altLang="zh-TW" dirty="0"/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Photon round trip time (0.4174730024555257 </a:t>
                </a:r>
                <a:r>
                  <a:rPr lang="en-US" altLang="zh-TW" dirty="0" err="1"/>
                  <a:t>ps</a:t>
                </a:r>
                <a:r>
                  <a:rPr lang="en-US" altLang="zh-TW" dirty="0"/>
                  <a:t>)</a:t>
                </a:r>
              </a:p>
              <a:p>
                <a:pPr/>
                <a:endParaRPr lang="en-US" altLang="zh-TW" dirty="0"/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Free carrier life time (fitting value = 0.5 ns)</a:t>
                </a:r>
              </a:p>
              <a:p>
                <a:pPr/>
                <a:endParaRPr lang="en-US" altLang="zh-TW" dirty="0"/>
              </a:p>
              <a:p>
                <a:pPr/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photon energy (0.0001274983842559692 </a:t>
                </a:r>
                <a:r>
                  <a:rPr lang="en-US" altLang="zh-TW" dirty="0" err="1"/>
                  <a:t>fJ</a:t>
                </a:r>
                <a:r>
                  <a:rPr lang="en-US" altLang="zh-TW" dirty="0"/>
                  <a:t>)</a:t>
                </a:r>
              </a:p>
              <a:p>
                <a:pPr/>
                <a:endParaRPr lang="en-US" altLang="zh-TW" dirty="0"/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𝐹𝐶𝐴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 effective cross section of Free carrier absorption (0.116 um^2)</a:t>
                </a:r>
              </a:p>
              <a:p>
                <a:pPr/>
                <a:r>
                  <a:rPr lang="en-US" altLang="zh-TW" dirty="0"/>
                  <a:t> (refer: Multi </a:t>
                </a:r>
                <a:r>
                  <a:rPr lang="en-US" altLang="zh-TW" dirty="0" err="1"/>
                  <a:t>bistability</a:t>
                </a:r>
                <a:r>
                  <a:rPr lang="en-US" altLang="zh-TW" dirty="0"/>
                  <a:t> and self-pulsation in nonlinear high- Q silicon </a:t>
                </a:r>
                <a:r>
                  <a:rPr lang="en-US" altLang="zh-TW" dirty="0" err="1"/>
                  <a:t>microring</a:t>
                </a:r>
                <a:r>
                  <a:rPr lang="en-US" altLang="zh-TW" dirty="0"/>
                  <a:t> resonators considering thermo-optical effect. TABLE. 1)</a:t>
                </a:r>
              </a:p>
              <a:p>
                <a:pPr/>
                <a:endParaRPr lang="en-US" altLang="zh-TW" dirty="0"/>
              </a:p>
              <a:p>
                <a:pPr/>
                <a:r>
                  <a:rPr lang="en-US" altLang="zh-TW" dirty="0"/>
                  <a:t>Q = 2325.6759128051194</a:t>
                </a:r>
              </a:p>
              <a:p>
                <a:pPr/>
                <a:endParaRPr lang="en-US" altLang="zh-TW" dirty="0"/>
              </a:p>
              <a:p>
                <a:pPr/>
                <a:endParaRPr lang="zh-TW" altLang="en-US" dirty="0"/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3CD989CD-5C31-5A67-B058-8BE4C1BB1F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610" y="236439"/>
                <a:ext cx="10098505" cy="6762557"/>
              </a:xfrm>
              <a:prstGeom prst="rect">
                <a:avLst/>
              </a:prstGeom>
              <a:blipFill>
                <a:blip r:embed="rId2"/>
                <a:stretch>
                  <a:fillRect l="-483" t="-5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7414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A57E3E-0C53-DC60-BF09-9C8C3FA54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625" y="252412"/>
            <a:ext cx="10515600" cy="225425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fit </a:t>
            </a:r>
            <a:r>
              <a:rPr lang="zh-TW" altLang="en-US" dirty="0"/>
              <a:t>參數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內容版面配置區 3">
                <a:extLst>
                  <a:ext uri="{FF2B5EF4-FFF2-40B4-BE49-F238E27FC236}">
                    <a16:creationId xmlns:a16="http://schemas.microsoft.com/office/drawing/2014/main" id="{1BF1B269-115C-83CE-4E15-5B99EB0D045A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609600" y="1337361"/>
                <a:ext cx="10429875" cy="5155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=0.5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𝑛𝑠</m:t>
                    </m:r>
                  </m:oMath>
                </a14:m>
                <a:r>
                  <a:rPr lang="en-US" altLang="zh-TW" b="0" dirty="0">
                    <a:solidFill>
                      <a:srgbClr val="FF0000"/>
                    </a:solidFill>
                  </a:rPr>
                  <a:t>,</a:t>
                </a:r>
                <a14:m>
                  <m:oMath xmlns:m="http://schemas.openxmlformats.org/officeDocument/2006/math">
                    <m:r>
                      <a:rPr lang="en-US" altLang="zh-TW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𝑓𝑟𝑒𝑒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𝑐𝑎𝑟𝑟𝑖𝑒𝑟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𝑙𝑖𝑓𝑒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𝑡𝑖𝑚𝑒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𝑡h𝑒𝑟𝑚𝑎𝑙</m:t>
                        </m:r>
                      </m:sub>
                    </m:sSub>
                    <m:r>
                      <a:rPr lang="en-US" altLang="zh-TW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=17.5</m:t>
                    </m:r>
                    <m:r>
                      <a:rPr lang="en-US" altLang="zh-TW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𝑛𝑠</m:t>
                    </m:r>
                  </m:oMath>
                </a14:m>
                <a:r>
                  <a:rPr lang="zh-TW" altLang="en-US" dirty="0">
                    <a:solidFill>
                      <a:srgbClr val="FF0000"/>
                    </a:solidFill>
                  </a:rPr>
                  <a:t>     </a:t>
                </a:r>
                <a:r>
                  <a:rPr lang="en-US" altLang="zh-TW" dirty="0"/>
                  <a:t>(thermal time constant)</a:t>
                </a:r>
                <a:endParaRPr lang="en-US" altLang="zh-TW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𝐹𝐶𝐴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=1.04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−17 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TW" altLang="en-US" dirty="0"/>
                  <a:t>  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𝑇𝑃𝐴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TW" dirty="0"/>
                  <a:t> 5e-13 cm/</a:t>
                </a:r>
                <a:r>
                  <a:rPr lang="en-US" altLang="zh-TW" dirty="0" err="1"/>
                  <a:t>mW</a:t>
                </a:r>
                <a:endParaRPr lang="en-US" altLang="zh-TW" dirty="0"/>
              </a:p>
              <a:p>
                <a:r>
                  <a:rPr lang="en-US" altLang="zh-TW" dirty="0"/>
                  <a:t>n2 = 4.5e-9 um^2/</a:t>
                </a:r>
                <a:r>
                  <a:rPr lang="en-US" altLang="zh-TW" dirty="0" err="1"/>
                  <a:t>mW</a:t>
                </a:r>
                <a:endParaRPr lang="en-US" altLang="zh-TW" dirty="0"/>
              </a:p>
              <a:p>
                <a:r>
                  <a:rPr lang="en-US" altLang="zh-TW" dirty="0" err="1"/>
                  <a:t>dn</a:t>
                </a:r>
                <a:r>
                  <a:rPr lang="en-US" altLang="zh-TW" dirty="0"/>
                  <a:t>/dT =1.95e-4 1/K (</a:t>
                </a:r>
                <a:r>
                  <a:rPr lang="zh-TW" altLang="en-US" dirty="0"/>
                  <a:t>折射率溫度斜率，參考</a:t>
                </a:r>
                <a:r>
                  <a:rPr lang="en-US" altLang="zh-TW" dirty="0" err="1"/>
                  <a:t>imec</a:t>
                </a:r>
                <a:r>
                  <a:rPr lang="en-US" altLang="zh-TW" dirty="0"/>
                  <a:t> paper</a:t>
                </a:r>
                <a:r>
                  <a:rPr lang="zh-TW" altLang="en-US" dirty="0"/>
                  <a:t>數值</a:t>
                </a:r>
                <a:r>
                  <a:rPr lang="en-US" altLang="zh-TW" dirty="0"/>
                  <a:t>)</a:t>
                </a:r>
              </a:p>
              <a:p>
                <a:r>
                  <a:rPr lang="en-US" altLang="zh-TW" dirty="0"/>
                  <a:t>Si </a:t>
                </a:r>
                <a:r>
                  <a:rPr lang="zh-TW" altLang="en-US" dirty="0"/>
                  <a:t>密度：</a:t>
                </a:r>
                <a:r>
                  <a:rPr lang="en-US" altLang="zh-TW" dirty="0"/>
                  <a:t>2.329e-12 g/um^3, </a:t>
                </a:r>
                <a:r>
                  <a:rPr lang="zh-TW" altLang="en-US" dirty="0"/>
                  <a:t>比熱：</a:t>
                </a:r>
                <a:r>
                  <a:rPr lang="en-US" altLang="zh-TW" dirty="0"/>
                  <a:t>0.713 J/g/K</a:t>
                </a:r>
              </a:p>
              <a:p>
                <a:r>
                  <a:rPr lang="en-US" altLang="zh-TW" dirty="0"/>
                  <a:t>mode area = 0.22*0.5 =0.11 um^2</a:t>
                </a:r>
              </a:p>
              <a:p>
                <a:r>
                  <a:rPr lang="en-US" altLang="zh-TW" dirty="0"/>
                  <a:t>TPA loss = 0.0415 1/cm</a:t>
                </a:r>
              </a:p>
              <a:p>
                <a:r>
                  <a:rPr lang="en-US" altLang="zh-TW" dirty="0" err="1"/>
                  <a:t>FCA</a:t>
                </a:r>
                <a:r>
                  <a:rPr lang="en-US" altLang="zh-TW" dirty="0"/>
                  <a:t> loss =  0.07027 1/cm</a:t>
                </a:r>
              </a:p>
            </p:txBody>
          </p:sp>
        </mc:Choice>
        <mc:Fallback xmlns="">
          <p:sp>
            <p:nvSpPr>
              <p:cNvPr id="4" name="內容版面配置區 3">
                <a:extLst>
                  <a:ext uri="{FF2B5EF4-FFF2-40B4-BE49-F238E27FC236}">
                    <a16:creationId xmlns:a16="http://schemas.microsoft.com/office/drawing/2014/main" id="{1BF1B269-115C-83CE-4E15-5B99EB0D045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337361"/>
                <a:ext cx="10429875" cy="5155514"/>
              </a:xfrm>
              <a:prstGeom prst="rect">
                <a:avLst/>
              </a:prstGeom>
              <a:blipFill>
                <a:blip r:embed="rId2"/>
                <a:stretch>
                  <a:fillRect l="-1052" t="-1891" b="-2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94ED8C82-972D-4905-F01C-C05DF43CCFB6}"/>
              </a:ext>
            </a:extLst>
          </p:cNvPr>
          <p:cNvSpPr txBox="1"/>
          <p:nvPr/>
        </p:nvSpPr>
        <p:spPr>
          <a:xfrm>
            <a:off x="609600" y="676766"/>
            <a:ext cx="11306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/>
              <a:t>主要調整</a:t>
            </a:r>
            <a:r>
              <a:rPr lang="en-US" altLang="zh-TW" sz="2400" dirty="0"/>
              <a:t>free carrier life time (deep </a:t>
            </a:r>
            <a:r>
              <a:rPr lang="zh-TW" altLang="en-US" sz="2400" dirty="0"/>
              <a:t>深度</a:t>
            </a:r>
            <a:r>
              <a:rPr lang="en-US" altLang="zh-TW" sz="2400" dirty="0"/>
              <a:t>)</a:t>
            </a:r>
            <a:r>
              <a:rPr lang="zh-TW" altLang="en-US" sz="2400" dirty="0"/>
              <a:t>以及</a:t>
            </a:r>
            <a:r>
              <a:rPr lang="en-US" altLang="zh-TW" sz="2400" dirty="0"/>
              <a:t>thermal time constant (</a:t>
            </a:r>
            <a:r>
              <a:rPr lang="zh-TW" altLang="en-US" sz="2400" dirty="0"/>
              <a:t>共振波長位置</a:t>
            </a:r>
            <a:r>
              <a:rPr lang="en-US" altLang="zh-TW" sz="2400" dirty="0"/>
              <a:t>)</a:t>
            </a: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236525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683</Words>
  <Application>Microsoft Office PowerPoint</Application>
  <PresentationFormat>寬螢幕</PresentationFormat>
  <Paragraphs>71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0" baseType="lpstr">
      <vt:lpstr>Arial</vt:lpstr>
      <vt:lpstr>Cambria Math</vt:lpstr>
      <vt:lpstr>Times New Roman</vt:lpstr>
      <vt:lpstr>Office 佈景主題</vt:lpstr>
      <vt:lpstr>PowerPoint 簡報</vt:lpstr>
      <vt:lpstr>Couple mode theory in time</vt:lpstr>
      <vt:lpstr>參數</vt:lpstr>
      <vt:lpstr>PowerPoint 簡報</vt:lpstr>
      <vt:lpstr>PowerPoint 簡報</vt:lpstr>
      <vt:lpstr>fit 參數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 kev</dc:creator>
  <cp:lastModifiedBy>in kev</cp:lastModifiedBy>
  <cp:revision>270</cp:revision>
  <dcterms:created xsi:type="dcterms:W3CDTF">2025-07-10T15:42:30Z</dcterms:created>
  <dcterms:modified xsi:type="dcterms:W3CDTF">2025-07-10T17:15:02Z</dcterms:modified>
</cp:coreProperties>
</file>