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9" r:id="rId4"/>
    <p:sldId id="280" r:id="rId5"/>
    <p:sldId id="281" r:id="rId6"/>
    <p:sldId id="28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CCD09-6179-B2EA-D592-2E607C07F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966AF0-7D7C-0E66-557C-25A45B5C0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39479B-3539-B838-4ADB-F121D409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347C52-AE39-3E2E-5D3A-FFD5379F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E46B51-F814-4F36-3DBC-9E2CC37F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22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998F8-B587-CE1F-FD33-60240422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EB4D0-BF9D-57BE-180A-2472EE6F8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40C8F4-7267-E1AF-A021-37EB6CF7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AFAF23-8D8D-39FF-6967-22AF51C1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405834-1424-6BBC-D0E5-676F087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45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589A39-54A9-B543-04EA-0B615DB9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6A3F67-6420-C699-5C00-6A96749C1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726750-1638-56D8-BD13-32B93FA4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22A0C1-2E3A-897B-E263-77801B0B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16EFCB-520F-F64B-C806-5DE83949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31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D8223-8FAD-8332-8001-475E542F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8111D-D36B-3AB8-9DF3-4422D3969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0B537C-B97F-CE5B-09C2-C01490BC8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00DD83-23D9-5E4B-AC7C-9EAE7A8F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BF7B23-7B0F-AE28-7CCF-852DD66E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5FD29A-38C8-BE18-4EDB-9619B0B7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86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502FA-C4B1-6534-D9E1-D192D189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D4CB0E-605D-D367-91ED-D4A96B8E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E2CEAC-1644-9063-527B-89E736E37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75230EC-80E9-A155-D849-03CCA517B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6F0C5CE-0DFA-5697-53D3-EF886EEF5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6B9E893-E790-3A0A-0008-2D8C079E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567A004-9E64-9F16-928A-7DBC181C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677653-7C17-B653-2937-CD51DB53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68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7AD5E-CEBE-96D5-76E3-FD3D5935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0579A5-1A72-131A-8959-11307974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950EE0-2FF9-FA9F-062C-C5EDDA07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F1C5A-B507-0133-1560-C2FCE840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5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549B428-4DB9-B3FB-9E1B-F2789D4F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D4A5247-F226-F826-C61E-E05ADAF9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DF8B3D-0DFC-3A35-97EB-B24EAD24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10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2C6F8-875D-5503-A1FE-D155420F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89C59F-EBD0-0039-6E35-E46D63309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2DAD28-8365-6C22-AB0F-B07E0C98D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93DF8E-7A7C-9407-F80C-889B299B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037C85-423B-6BD0-AEA5-78FFA80B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2BEE19-A6BC-3520-55F9-DD917A5D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078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9042-E2BE-A994-8EFA-D03DB8B2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497A3C8-E965-0318-73C6-CC25BF2E2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0AE2861-E341-9A37-7CDF-B0F30E35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6AB228-ABA1-1E65-D548-93BC1C94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239DF7-35FF-2F02-EB42-15247F8F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070B21-91FC-8AE7-1370-0C831097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44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822D34-C477-7E38-4776-1C826EE7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88B6D0-2536-3D70-C110-D302EA089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CC700D-0FBA-114D-30DC-3659989F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86BD34-C841-E09F-3EB3-C378DB54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CC5E3B-DFB4-22E1-18F4-2C056B86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47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C122EB9-B1C4-1F37-D225-0DAA9709F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F3D5AB4-C2D2-F8D6-C5A2-ACCEB59F3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8FBCB4-E16D-FA99-9184-ED0AD9AC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C066F9-D591-24A5-3382-298ECDC3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08D629-F9BA-FF45-A7D0-962644B1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16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CD04DE-26B2-AC73-BC3E-CA066BEF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362C77-8180-345E-5996-025C2D53E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C9086E-9B00-C9BD-2C64-26AEFA440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DD884-4005-48B0-BA66-9591723C410A}" type="datetimeFigureOut">
              <a:rPr lang="zh-TW" altLang="en-US" smtClean="0"/>
              <a:t>2025/7/14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53F8C7-A98E-DBBA-14A5-B3D6E3BE6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32341A-8E58-B7EB-99EA-EFCF1CFE4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C2A4D-3EB7-43DE-B58F-95991F3D6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36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96D8EF-5D08-14DD-5C6A-4DE9057D5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Parameter dependency check of couple mode theory in time 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411D34-6F26-4C9B-212F-F6C770626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86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3AA223-A3B5-546D-7799-3F3EB444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67142"/>
            <a:ext cx="10515600" cy="739775"/>
          </a:xfrm>
        </p:spPr>
        <p:txBody>
          <a:bodyPr/>
          <a:lstStyle/>
          <a:p>
            <a:r>
              <a:rPr lang="en-US" altLang="zh-TW" dirty="0"/>
              <a:t>Couple mode theory in time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8D2245F-B932-1F80-F0DC-C22156FAF37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5125" y="1117230"/>
                <a:ext cx="8601453" cy="1925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𝑑𝑏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𝑗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𝑆𝑃𝑀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𝑙𝑖𝑛𝑒𝑎𝑟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/2+</m:t>
                              </m:r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𝑇𝑃𝐴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𝑇𝑃𝐴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𝐹𝐶𝐴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8D2245F-B932-1F80-F0DC-C22156FAF37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125" y="1117230"/>
                <a:ext cx="8601453" cy="19256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9FF1720-884B-BBA0-67B4-80B0E87B0920}"/>
                  </a:ext>
                </a:extLst>
              </p:cNvPr>
              <p:cNvSpPr txBox="1"/>
              <p:nvPr/>
            </p:nvSpPr>
            <p:spPr>
              <a:xfrm>
                <a:off x="75125" y="4947370"/>
                <a:ext cx="11994357" cy="1595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altLang="zh-TW" sz="2400" b="0" dirty="0"/>
                        <m:t>= </m:t>
                      </m:r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𝐹𝐶𝐴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2400" dirty="0"/>
              </a:p>
              <a:p>
                <a:r>
                  <a:rPr lang="en-US" altLang="zh-TW" sz="2400" dirty="0"/>
                  <a:t>(refer: Multi </a:t>
                </a:r>
                <a:r>
                  <a:rPr lang="en-US" altLang="zh-TW" sz="2400" dirty="0" err="1"/>
                  <a:t>bistability</a:t>
                </a:r>
                <a:r>
                  <a:rPr lang="en-US" altLang="zh-TW" sz="2400" dirty="0"/>
                  <a:t> and self-pulsation in nonlinear high- Q silicon </a:t>
                </a:r>
                <a:r>
                  <a:rPr lang="en-US" altLang="zh-TW" sz="2400" dirty="0" err="1"/>
                  <a:t>microring</a:t>
                </a:r>
                <a:r>
                  <a:rPr lang="en-US" altLang="zh-TW" sz="2400" dirty="0"/>
                  <a:t> resonators considering thermo-optical effect.</a:t>
                </a:r>
                <a:r>
                  <a:rPr lang="zh-TW" altLang="en-US" sz="2400" dirty="0"/>
                  <a:t>式</a:t>
                </a:r>
                <a:r>
                  <a:rPr lang="en-US" altLang="zh-TW" sz="2400" dirty="0"/>
                  <a:t>(2)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)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9FF1720-884B-BBA0-67B4-80B0E87B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5" y="4947370"/>
                <a:ext cx="11994357" cy="1595180"/>
              </a:xfrm>
              <a:prstGeom prst="rect">
                <a:avLst/>
              </a:prstGeom>
              <a:blipFill>
                <a:blip r:embed="rId3"/>
                <a:stretch>
                  <a:fillRect l="-762" b="-8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03D05E3-DC19-6C74-DD48-EBE73E710E64}"/>
                  </a:ext>
                </a:extLst>
              </p:cNvPr>
              <p:cNvSpPr txBox="1"/>
              <p:nvPr/>
            </p:nvSpPr>
            <p:spPr>
              <a:xfrm>
                <a:off x="75125" y="3353198"/>
                <a:ext cx="7382253" cy="1729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𝑙𝑖𝑛𝑒𝑎𝑟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𝑇𝑃𝐴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𝑇𝑃𝐴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𝐹𝐶𝐴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r>
                  <a:rPr lang="en-US" altLang="zh-TW" sz="2000" dirty="0"/>
                  <a:t>(refer: Multi </a:t>
                </a:r>
                <a:r>
                  <a:rPr lang="en-US" altLang="zh-TW" sz="2000" dirty="0" err="1"/>
                  <a:t>bistability</a:t>
                </a:r>
                <a:r>
                  <a:rPr lang="en-US" altLang="zh-TW" sz="2000" dirty="0"/>
                  <a:t> and self-pulsation in nonlinear high- Q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considering thermo-optical effect.</a:t>
                </a:r>
                <a:r>
                  <a:rPr lang="zh-TW" altLang="en-US" sz="2000" dirty="0"/>
                  <a:t>式</a:t>
                </a:r>
                <a:r>
                  <a:rPr lang="en-US" altLang="zh-TW" sz="2000" dirty="0"/>
                  <a:t>(3)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)</a:t>
                </a: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03D05E3-DC19-6C74-DD48-EBE73E710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5" y="3353198"/>
                <a:ext cx="7382253" cy="1729128"/>
              </a:xfrm>
              <a:prstGeom prst="rect">
                <a:avLst/>
              </a:prstGeom>
              <a:blipFill>
                <a:blip r:embed="rId4"/>
                <a:stretch>
                  <a:fillRect l="-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23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708AF-E7F0-F81A-7471-9BFD85FA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2" y="116474"/>
            <a:ext cx="10515600" cy="164264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參數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044CFE-110E-4710-EFB1-A1DAFD0FC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2451" y="534233"/>
                <a:ext cx="11377864" cy="54655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  :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𝑒𝑙𝑒𝑐𝑡𝑟𝑖𝑐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𝑓𝑖𝑒𝑙𝑑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𝑟𝑖𝑛𝑔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𝑟𝑒𝑠𝑜𝑛𝑎𝑛𝑡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𝑟𝑎𝑑𝑖𝑎𝑛𝑡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𝑓𝑟𝑒𝑞𝑢𝑒𝑛𝑐𝑦</m:t>
                    </m:r>
                  </m:oMath>
                </a14:m>
                <a:r>
                  <a:rPr lang="en-US" altLang="zh-TW" sz="2000" dirty="0"/>
                  <a:t> (</a:t>
                </a:r>
                <a:r>
                  <a:rPr lang="en-US" altLang="zh-TW" sz="2000" b="0" dirty="0"/>
                  <a:t>wavelength =</a:t>
                </a:r>
                <a:r>
                  <a:rPr lang="en-US" altLang="zh-TW" sz="2000" dirty="0"/>
                  <a:t>1.55945 um)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  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𝐿𝑎𝑠𝑒𝑟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𝑟𝑎𝑑𝑖𝑎𝑛𝑡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𝑓𝑟𝑒𝑞𝑢𝑒𝑛𝑐𝑦</m:t>
                    </m:r>
                  </m:oMath>
                </a14:m>
                <a:r>
                  <a:rPr lang="en-US" altLang="zh-TW" sz="2000" b="0" dirty="0"/>
                  <a:t> (wavelength = 1.558 um)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c    : speed of light in vacuum (299792458e6 um/s)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: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𝐺𝑟𝑜𝑢𝑝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𝑖𝑛𝑑𝑒𝑥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3.9838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𝐺𝑟𝑜𝑢𝑝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𝑣𝑒𝑙𝑜𝑐𝑖𝑡𝑦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75.252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f>
                            <m:f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𝑢𝑚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/>
                  <a:t> cavity length (31.41592 um, 5um radius ring)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: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𝑆𝑒𝑙𝑓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𝑝h𝑎𝑠𝑒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𝑚𝑜𝑑𝑢𝑙𝑎𝑡𝑖𝑜𝑛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(4.5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−09 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𝑚𝑊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dirty="0"/>
              </a:p>
              <a:p>
                <a:pPr marL="0" indent="0">
                  <a:buNone/>
                </a:pPr>
                <a:r>
                  <a:rPr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refer: Multi </a:t>
                </a:r>
                <a:r>
                  <a:rPr lang="en-US" altLang="zh-TW" sz="2000" dirty="0" err="1"/>
                  <a:t>bistability</a:t>
                </a:r>
                <a:r>
                  <a:rPr lang="en-US" altLang="zh-TW" sz="2000" dirty="0"/>
                  <a:t> and self-pulsation in nonlinear high- Q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considering thermo-optical effect. TABLE. 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𝑆𝑃𝑀</m:t>
                        </m:r>
                      </m:sub>
                    </m:sSub>
                  </m:oMath>
                </a14:m>
                <a:r>
                  <a:rPr lang="en-US" altLang="zh-TW" sz="2000" dirty="0"/>
                  <a:t>: effective cross section of Kerr effect (0.204 um^2)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(refer: Multi </a:t>
                </a:r>
                <a:r>
                  <a:rPr lang="en-US" altLang="zh-TW" sz="2000" dirty="0" err="1"/>
                  <a:t>bistability</a:t>
                </a:r>
                <a:r>
                  <a:rPr lang="en-US" altLang="zh-TW" sz="2000" dirty="0"/>
                  <a:t> and self-pulsation in nonlinear high- Q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considering thermo-optical effect. TABLE. 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TW" altLang="en-US" sz="2000" dirty="0"/>
                  <a:t>：</a:t>
                </a:r>
                <a:r>
                  <a:rPr lang="en-US" altLang="zh-TW" sz="2000" dirty="0"/>
                  <a:t>index change per Kelvin (0.000195 1/K)</a:t>
                </a:r>
              </a:p>
              <a:p>
                <a:pPr marL="0" indent="0">
                  <a:buNone/>
                </a:pPr>
                <a:r>
                  <a:rPr lang="en-US" altLang="zh-TW" sz="2000" dirty="0"/>
                  <a:t>(refer: Thermal Modelling of Silicon Photonic Ring Modulator with Substrate Undercut </a:t>
                </a:r>
                <a:r>
                  <a:rPr lang="zh-TW" altLang="en-US" sz="2000" dirty="0"/>
                  <a:t>式</a:t>
                </a:r>
                <a:r>
                  <a:rPr lang="en-US" altLang="zh-TW" sz="2000" dirty="0"/>
                  <a:t>(1)</a:t>
                </a:r>
                <a:r>
                  <a:rPr lang="zh-TW" altLang="en-US" sz="2000" dirty="0"/>
                  <a:t>內參數</a:t>
                </a:r>
                <a:r>
                  <a:rPr lang="en-US" altLang="zh-TW" sz="2000" dirty="0"/>
                  <a:t>)</a:t>
                </a:r>
              </a:p>
              <a:p>
                <a:pPr marL="0" indent="0">
                  <a:buNone/>
                </a:pPr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E044CFE-110E-4710-EFB1-A1DAFD0FC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2451" y="534233"/>
                <a:ext cx="11377864" cy="5465514"/>
              </a:xfrm>
              <a:blipFill>
                <a:blip r:embed="rId2"/>
                <a:stretch>
                  <a:fillRect l="-5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3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29CDBCC-7DB4-6E03-349A-273C6D54F176}"/>
                  </a:ext>
                </a:extLst>
              </p:cNvPr>
              <p:cNvSpPr txBox="1"/>
              <p:nvPr/>
            </p:nvSpPr>
            <p:spPr>
              <a:xfrm>
                <a:off x="192505" y="59977"/>
                <a:ext cx="10852485" cy="6863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TW" altLang="en-US" sz="2000" dirty="0"/>
                  <a:t>：</a:t>
                </a:r>
                <a:r>
                  <a:rPr lang="en-US" altLang="zh-TW" sz="2000" dirty="0"/>
                  <a:t>amplitude couple photon life time (7.75369666558376 </a:t>
                </a:r>
                <a:r>
                  <a:rPr lang="en-US" altLang="zh-TW" sz="2000" dirty="0" err="1"/>
                  <a:t>ps</a:t>
                </a:r>
                <a:r>
                  <a:rPr lang="en-US" altLang="zh-TW" sz="2000" dirty="0"/>
                  <a:t>)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TW" sz="2000" dirty="0"/>
                  <a:t> amplitude photon life time : 7.650191072370922 ps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𝑙𝑖𝑛𝑒𝑎𝑟</m:t>
                        </m:r>
                      </m:sub>
                    </m:sSub>
                  </m:oMath>
                </a14:m>
                <a:r>
                  <a:rPr lang="zh-TW" altLang="en-US" sz="2000" dirty="0"/>
                  <a:t>：</a:t>
                </a:r>
                <a:r>
                  <a:rPr lang="en-US" altLang="zh-TW" sz="2000" dirty="0"/>
                  <a:t>linear absorption coefficient (34.74051370464404 1/cm)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𝑇𝑃𝐴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TW" sz="2000" dirty="0"/>
                  <a:t>Two photon absorption coefficient (5e-13 cm/</a:t>
                </a:r>
                <a:r>
                  <a:rPr lang="en-US" altLang="zh-TW" sz="2000" dirty="0" err="1"/>
                  <a:t>mW</a:t>
                </a:r>
                <a:r>
                  <a:rPr lang="en-US" altLang="zh-TW" sz="2000" dirty="0"/>
                  <a:t>)</a:t>
                </a:r>
              </a:p>
              <a:p>
                <a:r>
                  <a:rPr lang="en-US" altLang="zh-TW" sz="2000" dirty="0"/>
                  <a:t>(refer: Measurement of the Nonlinear Loss and Effective Free Carrier Lifetime in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</a:t>
                </a:r>
                <a:r>
                  <a:rPr lang="zh-TW" altLang="en-US" sz="2000" dirty="0"/>
                  <a:t>式</a:t>
                </a:r>
                <a:r>
                  <a:rPr lang="en-US" altLang="zh-TW" sz="2000" dirty="0"/>
                  <a:t>(10)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000" dirty="0"/>
                  <a:t>) 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𝑇𝑃𝐴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TW" sz="2000" dirty="0"/>
                  <a:t> effective cross section of Two-photon absorption effect (0.1289 um^2)</a:t>
                </a:r>
              </a:p>
              <a:p>
                <a:r>
                  <a:rPr lang="en-US" altLang="zh-TW" sz="2000" dirty="0"/>
                  <a:t> (refer: Multi </a:t>
                </a:r>
                <a:r>
                  <a:rPr lang="en-US" altLang="zh-TW" sz="2000" dirty="0" err="1"/>
                  <a:t>bistability</a:t>
                </a:r>
                <a:r>
                  <a:rPr lang="en-US" altLang="zh-TW" sz="2000" dirty="0"/>
                  <a:t> and self-pulsation in nonlinear high- Q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considering thermo-optical effect. TABLE. 1)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𝐹𝐶𝐴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TW" sz="2000" dirty="0"/>
                  <a:t>effective FCA cross section (1.04e-17 cm^2)</a:t>
                </a:r>
              </a:p>
              <a:p>
                <a:r>
                  <a:rPr lang="en-US" altLang="zh-TW" sz="2000" dirty="0"/>
                  <a:t>(refer: Measurement of the Nonlinear Loss and Effective Free Carrier Lifetime in Silicon </a:t>
                </a:r>
                <a:r>
                  <a:rPr lang="en-US" altLang="zh-TW" sz="2000" dirty="0" err="1"/>
                  <a:t>Microring</a:t>
                </a:r>
                <a:r>
                  <a:rPr lang="en-US" altLang="zh-TW" sz="2000" dirty="0"/>
                  <a:t> Resonators </a:t>
                </a:r>
                <a:r>
                  <a:rPr lang="zh-TW" altLang="en-US" sz="2000" dirty="0"/>
                  <a:t>式</a:t>
                </a:r>
                <a:r>
                  <a:rPr lang="en-US" altLang="zh-TW" sz="2000" dirty="0"/>
                  <a:t>(10)) </a:t>
                </a:r>
              </a:p>
              <a:p>
                <a:endParaRPr lang="en-US" altLang="zh-TW" sz="2000" dirty="0"/>
              </a:p>
              <a:p>
                <a:r>
                  <a:rPr lang="en-US" altLang="zh-TW" sz="2000" dirty="0"/>
                  <a:t>N</a:t>
                </a:r>
                <a:r>
                  <a:rPr lang="zh-TW" altLang="en-US" sz="2000" dirty="0"/>
                  <a:t>：</a:t>
                </a:r>
                <a:r>
                  <a:rPr lang="en-US" altLang="zh-TW" sz="2000" dirty="0"/>
                  <a:t>Free carrier density (1/cm^3)</a:t>
                </a:r>
              </a:p>
              <a:p>
                <a:endParaRPr lang="en-US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sz="2000" dirty="0"/>
                  <a:t>：</a:t>
                </a:r>
                <a:r>
                  <a:rPr lang="en-US" altLang="zh-TW" sz="2000" dirty="0"/>
                  <a:t>Input Laser field amplitude</a:t>
                </a: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29CDBCC-7DB4-6E03-349A-273C6D54F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" y="59977"/>
                <a:ext cx="10852485" cy="6863417"/>
              </a:xfrm>
              <a:prstGeom prst="rect">
                <a:avLst/>
              </a:prstGeom>
              <a:blipFill>
                <a:blip r:embed="rId2"/>
                <a:stretch>
                  <a:fillRect l="-618" t="-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70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CD989CD-5C31-5A67-B058-8BE4C1BB1F0E}"/>
                  </a:ext>
                </a:extLst>
              </p:cNvPr>
              <p:cNvSpPr txBox="1"/>
              <p:nvPr/>
            </p:nvSpPr>
            <p:spPr>
              <a:xfrm>
                <a:off x="232610" y="236439"/>
                <a:ext cx="10098505" cy="7316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TW" dirty="0"/>
                  <a:t>Thermal time constant (fitting value =17.5ns 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𝑆𝑖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density of Silicon (2.329e-12 g/um^3)</a:t>
                </a:r>
              </a:p>
              <a:p>
                <a:r>
                  <a:rPr lang="en-US" altLang="zh-TW" dirty="0"/>
                  <a:t>(refer: Multi </a:t>
                </a:r>
                <a:r>
                  <a:rPr lang="en-US" altLang="zh-TW" dirty="0" err="1"/>
                  <a:t>bistability</a:t>
                </a:r>
                <a:r>
                  <a:rPr lang="en-US" altLang="zh-TW" dirty="0"/>
                  <a:t> and self-pulsation in nonlinear high- Q silicon </a:t>
                </a:r>
                <a:r>
                  <a:rPr lang="en-US" altLang="zh-TW" dirty="0" err="1"/>
                  <a:t>microring</a:t>
                </a:r>
                <a:r>
                  <a:rPr lang="en-US" altLang="zh-TW" dirty="0"/>
                  <a:t> resonators considering thermo-optical effect. TABLE. 1)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𝑆𝑖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 specific heat capacity of silicon (713.0 </a:t>
                </a:r>
                <a:r>
                  <a:rPr lang="en-US" altLang="zh-TW" dirty="0" err="1"/>
                  <a:t>mJ</a:t>
                </a:r>
                <a:r>
                  <a:rPr lang="en-US" altLang="zh-TW" dirty="0"/>
                  <a:t>/(g*K))</a:t>
                </a:r>
              </a:p>
              <a:p>
                <a:r>
                  <a:rPr lang="en-US" altLang="zh-TW" dirty="0"/>
                  <a:t>(refer: Multi </a:t>
                </a:r>
                <a:r>
                  <a:rPr lang="en-US" altLang="zh-TW" dirty="0" err="1"/>
                  <a:t>bistability</a:t>
                </a:r>
                <a:r>
                  <a:rPr lang="en-US" altLang="zh-TW" dirty="0"/>
                  <a:t> and self-pulsation in nonlinear high- Q silicon </a:t>
                </a:r>
                <a:r>
                  <a:rPr lang="en-US" altLang="zh-TW" dirty="0" err="1"/>
                  <a:t>microring</a:t>
                </a:r>
                <a:r>
                  <a:rPr lang="en-US" altLang="zh-TW" dirty="0"/>
                  <a:t> resonators considering thermo-optical effect. TABLE. 1)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Photon round trip time (0.4174730024555257 </a:t>
                </a:r>
                <a:r>
                  <a:rPr lang="en-US" altLang="zh-TW" dirty="0" err="1"/>
                  <a:t>ps</a:t>
                </a:r>
                <a:r>
                  <a:rPr lang="en-US" altLang="zh-TW" dirty="0"/>
                  <a:t>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Free carrier life time (fitting value = 0.5 ns)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photon energy (0.0001274983842559692 </a:t>
                </a:r>
                <a:r>
                  <a:rPr lang="en-US" altLang="zh-TW" dirty="0" err="1"/>
                  <a:t>fJ</a:t>
                </a:r>
                <a:r>
                  <a:rPr lang="en-US" altLang="zh-TW" dirty="0"/>
                  <a:t>)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𝐹𝐶𝐴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 effective cross section of Free carrier absorption (0.116 um^2)</a:t>
                </a:r>
              </a:p>
              <a:p>
                <a:r>
                  <a:rPr lang="en-US" altLang="zh-TW" dirty="0"/>
                  <a:t> (refer: Multi </a:t>
                </a:r>
                <a:r>
                  <a:rPr lang="en-US" altLang="zh-TW" dirty="0" err="1"/>
                  <a:t>bistability</a:t>
                </a:r>
                <a:r>
                  <a:rPr lang="en-US" altLang="zh-TW" dirty="0"/>
                  <a:t> and self-pulsation in nonlinear high- Q silicon </a:t>
                </a:r>
                <a:r>
                  <a:rPr lang="en-US" altLang="zh-TW" dirty="0" err="1"/>
                  <a:t>microring</a:t>
                </a:r>
                <a:r>
                  <a:rPr lang="en-US" altLang="zh-TW" dirty="0"/>
                  <a:t> resonators considering thermo-optical effect. TABLE. 1)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 effective cross section of Free carrier absorption (0.116 um^2)</a:t>
                </a:r>
              </a:p>
              <a:p>
                <a:r>
                  <a:rPr lang="en-US" altLang="zh-TW" dirty="0"/>
                  <a:t> (refer: Multi </a:t>
                </a:r>
                <a:r>
                  <a:rPr lang="en-US" altLang="zh-TW" dirty="0" err="1"/>
                  <a:t>bistability</a:t>
                </a:r>
                <a:r>
                  <a:rPr lang="en-US" altLang="zh-TW" dirty="0"/>
                  <a:t> and self-pulsation in nonlinear high- Q silicon </a:t>
                </a:r>
                <a:r>
                  <a:rPr lang="en-US" altLang="zh-TW" dirty="0" err="1"/>
                  <a:t>microring</a:t>
                </a:r>
                <a:r>
                  <a:rPr lang="en-US" altLang="zh-TW" dirty="0"/>
                  <a:t> resonators considering thermo-optical effect. TABLE. 1)</a:t>
                </a:r>
              </a:p>
              <a:p>
                <a:r>
                  <a:rPr lang="en-US" altLang="zh-TW" dirty="0"/>
                  <a:t>Q = 2325.6759128051194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CD989CD-5C31-5A67-B058-8BE4C1BB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0" y="236439"/>
                <a:ext cx="10098505" cy="7316555"/>
              </a:xfrm>
              <a:prstGeom prst="rect">
                <a:avLst/>
              </a:prstGeom>
              <a:blipFill>
                <a:blip r:embed="rId2"/>
                <a:stretch>
                  <a:fillRect l="-483" t="-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41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22BD464-E30B-DE93-491F-F33A0C93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65583"/>
            <a:ext cx="6096000" cy="460696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EA6D755-D65D-1C99-B5F6-29C8993A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1142812"/>
            <a:ext cx="6202279" cy="472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0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608</Words>
  <Application>Microsoft Office PowerPoint</Application>
  <PresentationFormat>寬螢幕</PresentationFormat>
  <Paragraphs>60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Times New Roman</vt:lpstr>
      <vt:lpstr>Office 佈景主題</vt:lpstr>
      <vt:lpstr>Parameter dependency check of couple mode theory in time </vt:lpstr>
      <vt:lpstr>Couple mode theory in time</vt:lpstr>
      <vt:lpstr>參數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 kev</dc:creator>
  <cp:lastModifiedBy>in kev</cp:lastModifiedBy>
  <cp:revision>283</cp:revision>
  <dcterms:created xsi:type="dcterms:W3CDTF">2025-07-10T15:42:30Z</dcterms:created>
  <dcterms:modified xsi:type="dcterms:W3CDTF">2025-07-14T13:07:39Z</dcterms:modified>
</cp:coreProperties>
</file>