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64" r:id="rId3"/>
    <p:sldId id="279" r:id="rId4"/>
    <p:sldId id="280" r:id="rId5"/>
    <p:sldId id="281" r:id="rId6"/>
    <p:sldId id="282" r:id="rId7"/>
    <p:sldId id="283" r:id="rId8"/>
  </p:sldIdLst>
  <p:sldSz cx="12192000" cy="6858000"/>
  <p:notesSz cx="6858000" cy="9144000"/>
  <p:defaultTextStyle>
    <a:defPPr>
      <a:defRPr lang="zh-TW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76" d="100"/>
          <a:sy n="76" d="100"/>
        </p:scale>
        <p:origin x="917" y="9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580CCD09-6179-B2EA-D592-2E607C07F21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D966AF0-7D7C-0E66-557C-25A45B5C0D4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TW" altLang="en-US"/>
              <a:t>按一下以編輯母片子標題樣式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39479B-3539-B838-4ADB-F121D409FA4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99347C52-AE39-3E2E-5D3A-FFD5379F33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18E46B51-F814-4F36-3DBC-9E2CC37FFC3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5822259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E2998F8-B587-CE1F-FD33-60240422083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A50EB4D0-BF9D-57BE-180A-2472EE6F89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E940C8F4-7267-E1AF-A021-37EB6CF7FA4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AAFAF23-8D8D-39FF-6967-22AF51C16A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3405834-1424-6BBC-D0E5-676F087C5F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1745257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章節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10589A39-54A9-B543-04EA-0B615DB93F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346A3F67-6420-C699-5C00-6A96749C158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AF726750-1638-56D8-BD13-32B93FA4032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5F22A0C1-2E3A-897B-E263-77801B0BB4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B616EFCB-520F-F64B-C806-5DE8394972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19931767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兩個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92D8223-8FAD-8332-8001-475E542FA00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6B38111D-D36B-3AB8-9DF3-4422D3969720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5E0B537C-B97F-CE5B-09C2-C01490BC814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DC00DD83-23D9-5E4B-AC7C-9EAE7A8F18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D0BF7B23-7B0F-AE28-7CCF-852DD66E5B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25FD29A-38C8-BE18-4EDB-9619B0B74A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7818647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04502FA-C4B1-6534-D9E1-D192D1891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29D4CB0E-605D-D367-91ED-D4A96B8E04C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內容版面配置區 3">
            <a:extLst>
              <a:ext uri="{FF2B5EF4-FFF2-40B4-BE49-F238E27FC236}">
                <a16:creationId xmlns:a16="http://schemas.microsoft.com/office/drawing/2014/main" id="{87E2CEAC-1644-9063-527B-89E736E3795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5" name="文字版面配置區 4">
            <a:extLst>
              <a:ext uri="{FF2B5EF4-FFF2-40B4-BE49-F238E27FC236}">
                <a16:creationId xmlns:a16="http://schemas.microsoft.com/office/drawing/2014/main" id="{675230EC-80E9-A155-D849-03CCA517BD6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6" name="內容版面配置區 5">
            <a:extLst>
              <a:ext uri="{FF2B5EF4-FFF2-40B4-BE49-F238E27FC236}">
                <a16:creationId xmlns:a16="http://schemas.microsoft.com/office/drawing/2014/main" id="{86F0C5CE-0DFA-5697-53D3-EF886EEF5B25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7" name="日期版面配置區 6">
            <a:extLst>
              <a:ext uri="{FF2B5EF4-FFF2-40B4-BE49-F238E27FC236}">
                <a16:creationId xmlns:a16="http://schemas.microsoft.com/office/drawing/2014/main" id="{16B9E893-E790-3A0A-0008-2D8C079E58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2025/7/15</a:t>
            </a:fld>
            <a:endParaRPr lang="zh-TW" altLang="en-US"/>
          </a:p>
        </p:txBody>
      </p:sp>
      <p:sp>
        <p:nvSpPr>
          <p:cNvPr id="8" name="頁尾版面配置區 7">
            <a:extLst>
              <a:ext uri="{FF2B5EF4-FFF2-40B4-BE49-F238E27FC236}">
                <a16:creationId xmlns:a16="http://schemas.microsoft.com/office/drawing/2014/main" id="{0567A004-9E64-9F16-928A-7DBC181CEFE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9" name="投影片編號版面配置區 8">
            <a:extLst>
              <a:ext uri="{FF2B5EF4-FFF2-40B4-BE49-F238E27FC236}">
                <a16:creationId xmlns:a16="http://schemas.microsoft.com/office/drawing/2014/main" id="{B5677653-7C17-B653-2937-CD51DB53F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47684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257AD5E-CEBE-96D5-76E3-FD3D5935A8F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日期版面配置區 2">
            <a:extLst>
              <a:ext uri="{FF2B5EF4-FFF2-40B4-BE49-F238E27FC236}">
                <a16:creationId xmlns:a16="http://schemas.microsoft.com/office/drawing/2014/main" id="{520579A5-1A72-131A-8959-1130797405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2025/7/15</a:t>
            </a:fld>
            <a:endParaRPr lang="zh-TW" altLang="en-US"/>
          </a:p>
        </p:txBody>
      </p:sp>
      <p:sp>
        <p:nvSpPr>
          <p:cNvPr id="4" name="頁尾版面配置區 3">
            <a:extLst>
              <a:ext uri="{FF2B5EF4-FFF2-40B4-BE49-F238E27FC236}">
                <a16:creationId xmlns:a16="http://schemas.microsoft.com/office/drawing/2014/main" id="{50950EE0-2FF9-FA9F-062C-C5EDDA070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5" name="投影片編號版面配置區 4">
            <a:extLst>
              <a:ext uri="{FF2B5EF4-FFF2-40B4-BE49-F238E27FC236}">
                <a16:creationId xmlns:a16="http://schemas.microsoft.com/office/drawing/2014/main" id="{E2BF1C5A-B507-0133-1560-C2FCE84077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45525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版面配置區 1">
            <a:extLst>
              <a:ext uri="{FF2B5EF4-FFF2-40B4-BE49-F238E27FC236}">
                <a16:creationId xmlns:a16="http://schemas.microsoft.com/office/drawing/2014/main" id="{1549B428-4DB9-B3FB-9E1B-F2789D4F19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2025/7/15</a:t>
            </a:fld>
            <a:endParaRPr lang="zh-TW" altLang="en-US"/>
          </a:p>
        </p:txBody>
      </p:sp>
      <p:sp>
        <p:nvSpPr>
          <p:cNvPr id="3" name="頁尾版面配置區 2">
            <a:extLst>
              <a:ext uri="{FF2B5EF4-FFF2-40B4-BE49-F238E27FC236}">
                <a16:creationId xmlns:a16="http://schemas.microsoft.com/office/drawing/2014/main" id="{BD4A5247-F226-F826-C61E-E05ADAF973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4" name="投影片編號版面配置區 3">
            <a:extLst>
              <a:ext uri="{FF2B5EF4-FFF2-40B4-BE49-F238E27FC236}">
                <a16:creationId xmlns:a16="http://schemas.microsoft.com/office/drawing/2014/main" id="{1BDF8B3D-0DFC-3A35-97EB-B24EAD24A4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465108211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含輔助字幕的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ED2C6F8-875D-5503-A1FE-D155420FA8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4689C59F-EBD0-0039-6E35-E46D6330979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702DAD28-8365-6C22-AB0F-B07E0C98D40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BA93DF8E-7A7C-9407-F80C-889B299B84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43037C85-423B-6BD0-AEA5-78FFA80B8A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352BEE19-A6BC-3520-55F9-DD917A5DAE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7707838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含輔助字幕的圖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CD6B9042-E2BE-A994-8EFA-D03DB8B2699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圖片版面配置區 2">
            <a:extLst>
              <a:ext uri="{FF2B5EF4-FFF2-40B4-BE49-F238E27FC236}">
                <a16:creationId xmlns:a16="http://schemas.microsoft.com/office/drawing/2014/main" id="{6497A3C8-E965-0318-73C6-CC25BF2E20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TW" altLang="en-US"/>
          </a:p>
        </p:txBody>
      </p:sp>
      <p:sp>
        <p:nvSpPr>
          <p:cNvPr id="4" name="文字版面配置區 3">
            <a:extLst>
              <a:ext uri="{FF2B5EF4-FFF2-40B4-BE49-F238E27FC236}">
                <a16:creationId xmlns:a16="http://schemas.microsoft.com/office/drawing/2014/main" id="{F0AE2861-E341-9A37-7CDF-B0F30E35523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5" name="日期版面配置區 4">
            <a:extLst>
              <a:ext uri="{FF2B5EF4-FFF2-40B4-BE49-F238E27FC236}">
                <a16:creationId xmlns:a16="http://schemas.microsoft.com/office/drawing/2014/main" id="{8D6AB228-ABA1-1E65-D548-93BC1C94F1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2025/7/15</a:t>
            </a:fld>
            <a:endParaRPr lang="zh-TW" altLang="en-US"/>
          </a:p>
        </p:txBody>
      </p:sp>
      <p:sp>
        <p:nvSpPr>
          <p:cNvPr id="6" name="頁尾版面配置區 5">
            <a:extLst>
              <a:ext uri="{FF2B5EF4-FFF2-40B4-BE49-F238E27FC236}">
                <a16:creationId xmlns:a16="http://schemas.microsoft.com/office/drawing/2014/main" id="{32239DF7-35FF-2F02-EB42-15247F8F16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7" name="投影片編號版面配置區 6">
            <a:extLst>
              <a:ext uri="{FF2B5EF4-FFF2-40B4-BE49-F238E27FC236}">
                <a16:creationId xmlns:a16="http://schemas.microsoft.com/office/drawing/2014/main" id="{4F070B21-91FC-8AE7-1370-0C8310978A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7844483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標題及直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A9822D34-C477-7E38-4776-1C826EE704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5E88B6D0-2536-3D70-C110-D302EA0894B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FFCC700D-0FBA-114D-30DC-3659989FBA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B186BD34-C841-E09F-3EB3-C378DB54A5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80CC5E3B-DFB4-22E1-18F4-2C056B86A9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23447003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直排標題及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直排標題 1">
            <a:extLst>
              <a:ext uri="{FF2B5EF4-FFF2-40B4-BE49-F238E27FC236}">
                <a16:creationId xmlns:a16="http://schemas.microsoft.com/office/drawing/2014/main" id="{3C122EB9-B1C4-1F37-D225-0DAA9709F4B4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直排文字版面配置區 2">
            <a:extLst>
              <a:ext uri="{FF2B5EF4-FFF2-40B4-BE49-F238E27FC236}">
                <a16:creationId xmlns:a16="http://schemas.microsoft.com/office/drawing/2014/main" id="{DF3D5AB4-C2D2-F8D6-C5A2-ACCEB59F37A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CC8FBCB4-E16D-FA99-9184-ED0AD9AC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DDDD884-4005-48B0-BA66-9591723C410A}" type="datetimeFigureOut">
              <a:rPr lang="zh-TW" altLang="en-US" smtClean="0"/>
              <a:t>2025/7/15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0EC066F9-D591-24A5-3382-298ECDC377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808D629-F9BA-FF45-A7D0-962644B19C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16781639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版面配置區 1">
            <a:extLst>
              <a:ext uri="{FF2B5EF4-FFF2-40B4-BE49-F238E27FC236}">
                <a16:creationId xmlns:a16="http://schemas.microsoft.com/office/drawing/2014/main" id="{7BCD04DE-26B2-AC73-BC3E-CA066BEF0D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TW" altLang="en-US"/>
              <a:t>按一下以編輯母片標題樣式</a:t>
            </a:r>
          </a:p>
        </p:txBody>
      </p:sp>
      <p:sp>
        <p:nvSpPr>
          <p:cNvPr id="3" name="文字版面配置區 2">
            <a:extLst>
              <a:ext uri="{FF2B5EF4-FFF2-40B4-BE49-F238E27FC236}">
                <a16:creationId xmlns:a16="http://schemas.microsoft.com/office/drawing/2014/main" id="{6F362C77-8180-345E-5996-025C2D53ED2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</a:p>
        </p:txBody>
      </p:sp>
      <p:sp>
        <p:nvSpPr>
          <p:cNvPr id="4" name="日期版面配置區 3">
            <a:extLst>
              <a:ext uri="{FF2B5EF4-FFF2-40B4-BE49-F238E27FC236}">
                <a16:creationId xmlns:a16="http://schemas.microsoft.com/office/drawing/2014/main" id="{00C9086E-9B00-C9BD-2C64-26AEFA44004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DDD884-4005-48B0-BA66-9591723C410A}" type="datetimeFigureOut">
              <a:rPr lang="zh-TW" altLang="en-US" smtClean="0"/>
              <a:t>2025/7/15</a:t>
            </a:fld>
            <a:endParaRPr lang="zh-TW" altLang="en-US"/>
          </a:p>
        </p:txBody>
      </p:sp>
      <p:sp>
        <p:nvSpPr>
          <p:cNvPr id="5" name="頁尾版面配置區 4">
            <a:extLst>
              <a:ext uri="{FF2B5EF4-FFF2-40B4-BE49-F238E27FC236}">
                <a16:creationId xmlns:a16="http://schemas.microsoft.com/office/drawing/2014/main" id="{3753F8C7-A98E-DBBA-14A5-B3D6E3BE6B5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TW" altLang="en-US"/>
          </a:p>
        </p:txBody>
      </p:sp>
      <p:sp>
        <p:nvSpPr>
          <p:cNvPr id="6" name="投影片編號版面配置區 5">
            <a:extLst>
              <a:ext uri="{FF2B5EF4-FFF2-40B4-BE49-F238E27FC236}">
                <a16:creationId xmlns:a16="http://schemas.microsoft.com/office/drawing/2014/main" id="{7332341A-8E58-B7EB-99EA-EFCF1CFE4E9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D5C2A4D-3EB7-43DE-B58F-95991F3D66C7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33936848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TW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C96D8EF-5D08-14DD-5C6A-4DE9057D5CDF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altLang="zh-TW" dirty="0"/>
              <a:t>Parameter dependency check of couple mode theory in time </a:t>
            </a:r>
            <a:endParaRPr lang="zh-TW" altLang="en-US" dirty="0"/>
          </a:p>
        </p:txBody>
      </p:sp>
      <p:sp>
        <p:nvSpPr>
          <p:cNvPr id="3" name="副標題 2">
            <a:extLst>
              <a:ext uri="{FF2B5EF4-FFF2-40B4-BE49-F238E27FC236}">
                <a16:creationId xmlns:a16="http://schemas.microsoft.com/office/drawing/2014/main" id="{89411D34-6F26-4C9B-212F-F6C77062673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zh-TW" altLang="en-US" dirty="0"/>
              <a:t>陳居文 </a:t>
            </a:r>
            <a:r>
              <a:rPr lang="en-US" altLang="zh-TW" dirty="0"/>
              <a:t>2025.07.15</a:t>
            </a:r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386786336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7A3AA223-A3B5-546D-7799-3F3EB444D35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23825" y="67142"/>
            <a:ext cx="10515600" cy="739775"/>
          </a:xfrm>
        </p:spPr>
        <p:txBody>
          <a:bodyPr/>
          <a:lstStyle/>
          <a:p>
            <a:r>
              <a:rPr lang="en-US" altLang="zh-TW" dirty="0"/>
              <a:t>Couple mode theory in time</a:t>
            </a:r>
            <a:endParaRPr lang="zh-TW" alt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內容版面配置區 3">
                <a:extLst>
                  <a:ext uri="{FF2B5EF4-FFF2-40B4-BE49-F238E27FC236}">
                    <a16:creationId xmlns:a16="http://schemas.microsoft.com/office/drawing/2014/main" id="{28D2245F-B932-1F80-F0DC-C22156FAF378}"/>
                  </a:ext>
                </a:extLst>
              </p:cNvPr>
              <p:cNvSpPr txBox="1">
                <a:spLocks noGrp="1"/>
              </p:cNvSpPr>
              <p:nvPr>
                <p:ph idx="1"/>
              </p:nvPr>
            </p:nvSpPr>
            <p:spPr>
              <a:xfrm>
                <a:off x="75125" y="1117230"/>
                <a:ext cx="8601453" cy="19256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f>
                      <m:fPr>
                        <m:ctrlPr>
                          <a:rPr lang="en-US" altLang="zh-TW" sz="2400" i="1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𝑑𝑏</m:t>
                        </m:r>
                      </m:num>
                      <m:den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𝑑𝑡</m:t>
                        </m:r>
                      </m:den>
                    </m:f>
                    <m:r>
                      <a:rPr lang="en-US" altLang="zh-TW" sz="24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𝑗</m:t>
                    </m:r>
                    <m:d>
                      <m:dPr>
                        <m:ctrlPr>
                          <a:rPr lang="en-US" altLang="zh-TW" sz="24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𝜔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𝜔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e>
                                  <m:sub>
                                    <m:r>
                                      <a:rPr lang="en-US" altLang="zh-TW" sz="2400" b="0" i="1" smtClean="0">
                                        <a:latin typeface="Cambria Math" panose="02040503050406030204" pitchFamily="18" charset="0"/>
                                      </a:rPr>
                                      <m:t>𝑟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𝑆𝑃𝑀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sSup>
                          <m:sSup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d>
                              <m:dPr>
                                <m:begChr m:val="|"/>
                                <m:endChr m:val="|"/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  <m:t>𝑏</m:t>
                                </m:r>
                              </m:e>
                            </m:d>
                          </m:e>
                          <m:sup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2</m:t>
                            </m:r>
                          </m:sup>
                        </m:sSup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+</m:t>
                        </m:r>
                        <m:d>
                          <m:d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  <m:f>
                              <m:fPr>
                                <m:ctrlPr>
                                  <a:rPr lang="en-US" altLang="zh-TW" sz="2400" i="1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𝜔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num>
                              <m:den>
                                <m:sSub>
                                  <m:sSubPr>
                                    <m:ctrlP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e>
                                  <m:sub>
                                    <m:r>
                                      <a:rPr lang="en-US" altLang="zh-TW" sz="2400" i="1">
                                        <a:latin typeface="Cambria Math" panose="02040503050406030204" pitchFamily="18" charset="0"/>
                                      </a:rPr>
                                      <m:t>𝑔</m:t>
                                    </m:r>
                                  </m:sub>
                                </m:sSub>
                              </m:den>
                            </m:f>
                          </m:e>
                        </m:d>
                        <m:sSub>
                          <m:sSubPr>
                            <m:ctrlPr>
                              <a:rPr lang="en-US" altLang="zh-TW" sz="2400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𝜅</m:t>
                            </m:r>
                          </m:e>
                          <m:sub>
                            <m:r>
                              <a:rPr lang="en-US" altLang="zh-TW" sz="2400" i="1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  <m:r>
                          <m:rPr>
                            <m:sty m:val="p"/>
                          </m:rPr>
                          <a:rPr lang="en-US" altLang="zh-TW" sz="2400" i="1">
                            <a:latin typeface="Cambria Math" panose="02040503050406030204" pitchFamily="18" charset="0"/>
                          </a:rPr>
                          <m:t>Δ</m:t>
                        </m:r>
                        <m:r>
                          <a:rPr lang="en-US" altLang="zh-TW" sz="2400" i="1">
                            <a:latin typeface="Cambria Math" panose="02040503050406030204" pitchFamily="18" charset="0"/>
                          </a:rPr>
                          <m:t>𝑇</m:t>
                        </m:r>
                      </m:e>
                    </m:d>
                    <m:r>
                      <a:rPr lang="en-US" altLang="zh-TW" sz="2400" i="1">
                        <a:latin typeface="Cambria Math" panose="02040503050406030204" pitchFamily="18" charset="0"/>
                      </a:rPr>
                      <m:t>𝑏</m:t>
                    </m:r>
                    <m:r>
                      <a:rPr lang="en-US" altLang="zh-TW" sz="2400" i="1">
                        <a:latin typeface="Cambria Math" panose="02040503050406030204" pitchFamily="18" charset="0"/>
                      </a:rPr>
                      <m:t>−</m:t>
                    </m:r>
                  </m:oMath>
                </a14:m>
                <a:endParaRPr lang="en-US" altLang="zh-TW" sz="2400" i="1" dirty="0">
                  <a:latin typeface="Cambria Math" panose="02040503050406030204" pitchFamily="18" charset="0"/>
                </a:endParaRPr>
              </a:p>
              <a:p>
                <a:endParaRPr lang="en-US" altLang="zh-TW" sz="200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f>
                            <m:f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num>
                            <m:den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𝑒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∗</m:t>
                          </m:r>
                          <m:d>
                            <m:d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𝑙𝑖𝑛𝑒𝑎𝑟</m:t>
                                  </m:r>
                                </m:sub>
                              </m:s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/2+</m:t>
                              </m:r>
                              <m:f>
                                <m:f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𝛽</m:t>
                                      </m:r>
                                    </m:e>
                                    <m:sub>
                                      <m:r>
                                        <a:rPr lang="en-US" altLang="zh-TW" sz="2000" b="0" i="1" smtClean="0">
                                          <a:latin typeface="Cambria Math" panose="02040503050406030204" pitchFamily="18" charset="0"/>
                                        </a:rPr>
                                        <m:t>𝑇𝑃𝐴</m:t>
                                      </m:r>
                                    </m:sub>
                                  </m:sSub>
                                </m:num>
                                <m:den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  <m:sSub>
                                    <m:sSubPr>
                                      <m:ctrlPr>
                                        <a:rPr lang="en-US" altLang="zh-TW" sz="200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sSub>
                                        <m:sSubPr>
                                          <m:ctrlPr>
                                            <a:rPr lang="en-US" altLang="zh-TW" sz="20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altLang="zh-TW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e>
                                        <m:sub>
                                          <m:r>
                                            <a:rPr lang="en-US" altLang="zh-TW" sz="2000" b="0" i="1" smtClean="0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sub>
                                      </m:s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𝑇𝑃𝐴</m:t>
                                      </m:r>
                                    </m:sub>
                                  </m:sSub>
                                </m:den>
                              </m:f>
                              <m:sSup>
                                <m:sSup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f>
                                <m:f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𝜎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𝐹𝐶𝐴</m:t>
                                      </m:r>
                                    </m:sub>
                                  </m:sSub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𝑁</m:t>
                                  </m:r>
                                </m:num>
                                <m:den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den>
                              </m:f>
                            </m:e>
                          </m:d>
                        </m:e>
                      </m:d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TW" sz="2000" i="1">
                          <a:latin typeface="Cambria Math" panose="02040503050406030204" pitchFamily="18" charset="0"/>
                        </a:rPr>
                        <m:t>+</m:t>
                      </m:r>
                      <m:rad>
                        <m:radPr>
                          <m:degHide m:val="on"/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radPr>
                        <m:deg/>
                        <m:e>
                          <m:d>
                            <m:dPr>
                              <m:ctrlP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r>
                                    <a:rPr lang="en-US" altLang="zh-TW" sz="2000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𝜏</m:t>
                                      </m:r>
                                    </m:e>
                                    <m:sub>
                                      <m:r>
                                        <a:rPr lang="en-US" altLang="zh-TW" sz="2000" i="1">
                                          <a:latin typeface="Cambria Math" panose="02040503050406030204" pitchFamily="18" charset="0"/>
                                        </a:rPr>
                                        <m:t>𝑒</m:t>
                                      </m:r>
                                    </m:sub>
                                  </m:sSub>
                                </m:den>
                              </m:f>
                            </m:e>
                          </m:d>
                        </m:e>
                      </m:rad>
                      <m:sSub>
                        <m:sSubPr>
                          <m:ctrlPr>
                            <a:rPr lang="en-US" altLang="zh-TW" sz="20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𝑆</m:t>
                          </m:r>
                        </m:e>
                        <m:sub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TW" altLang="en-US" sz="2000" dirty="0"/>
              </a:p>
            </p:txBody>
          </p:sp>
        </mc:Choice>
        <mc:Fallback xmlns="">
          <p:sp>
            <p:nvSpPr>
              <p:cNvPr id="4" name="內容版面配置區 3">
                <a:extLst>
                  <a:ext uri="{FF2B5EF4-FFF2-40B4-BE49-F238E27FC236}">
                    <a16:creationId xmlns:a16="http://schemas.microsoft.com/office/drawing/2014/main" id="{28D2245F-B932-1F80-F0DC-C22156FAF378}"/>
                  </a:ext>
                </a:extLst>
              </p:cNvPr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5125" y="1117230"/>
                <a:ext cx="8601453" cy="1925655"/>
              </a:xfrm>
              <a:prstGeom prst="rect">
                <a:avLst/>
              </a:prstGeom>
              <a:blipFill>
                <a:blip r:embed="rId2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9FF1720-884B-BBA0-67B4-80B0E87B0920}"/>
                  </a:ext>
                </a:extLst>
              </p:cNvPr>
              <p:cNvSpPr txBox="1"/>
              <p:nvPr/>
            </p:nvSpPr>
            <p:spPr>
              <a:xfrm>
                <a:off x="75125" y="4947370"/>
                <a:ext cx="11994357" cy="159518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400" i="1" dirty="0" smtClean="0">
                          <a:latin typeface="Cambria Math" panose="02040503050406030204" pitchFamily="18" charset="0"/>
                        </a:rPr>
                        <m:t>N</m:t>
                      </m:r>
                      <m:r>
                        <m:rPr>
                          <m:nor/>
                        </m:rPr>
                        <a:rPr lang="en-US" altLang="zh-TW" sz="2400" b="0" dirty="0"/>
                        <m:t>= </m:t>
                      </m:r>
                      <m:sSub>
                        <m:sSubPr>
                          <m:ctrlP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400" i="1" dirty="0" smtClean="0">
                              <a:latin typeface="Cambria Math" panose="02040503050406030204" pitchFamily="18" charset="0"/>
                            </a:rPr>
                            <m:t>𝜏</m:t>
                          </m:r>
                        </m:e>
                        <m:sub>
                          <m:r>
                            <a:rPr lang="en-US" altLang="zh-TW" sz="2400" b="0" i="1" dirty="0" smtClean="0">
                              <a:latin typeface="Cambria Math" panose="02040503050406030204" pitchFamily="18" charset="0"/>
                            </a:rPr>
                            <m:t>𝑒𝑓𝑓</m:t>
                          </m:r>
                        </m:sub>
                      </m:sSub>
                      <m:f>
                        <m:f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𝛽</m:t>
                              </m:r>
                            </m:e>
                            <m:sub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num>
                        <m:den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h</m:t>
                          </m:r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𝜈</m:t>
                          </m:r>
                          <m:sSup>
                            <m:sSupPr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ctrlPr>
                                    <a:rPr lang="en-US" altLang="zh-TW" sz="24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𝑟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TW" sz="2400" b="0" i="1" smtClean="0">
                                          <a:latin typeface="Cambria Math" panose="02040503050406030204" pitchFamily="18" charset="0"/>
                                        </a:rPr>
                                        <m:t>𝐹𝐶𝐴</m:t>
                                      </m:r>
                                    </m:sub>
                                  </m:sSub>
                                </m:e>
                              </m:d>
                            </m:e>
                            <m:sup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den>
                      </m:f>
                      <m:sSup>
                        <m:sSupPr>
                          <m:ctrlP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d>
                            <m:dPr>
                              <m:begChr m:val="|"/>
                              <m:endChr m:val="|"/>
                              <m:ctrlP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TW" sz="2400" b="0" i="1" smtClean="0">
                                  <a:latin typeface="Cambria Math" panose="02040503050406030204" pitchFamily="18" charset="0"/>
                                </a:rPr>
                                <m:t>𝑏</m:t>
                              </m:r>
                            </m:e>
                          </m:d>
                        </m:e>
                        <m:sup>
                          <m:r>
                            <a:rPr lang="en-US" altLang="zh-TW" sz="2400" b="0" i="1" smtClean="0">
                              <a:latin typeface="Cambria Math" panose="02040503050406030204" pitchFamily="18" charset="0"/>
                            </a:rPr>
                            <m:t>4</m:t>
                          </m:r>
                        </m:sup>
                      </m:sSup>
                      <m:r>
                        <a:rPr lang="en-US" altLang="zh-TW" sz="2400" b="0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en-US" altLang="zh-TW" sz="2400" dirty="0"/>
              </a:p>
              <a:p>
                <a:r>
                  <a:rPr lang="en-US" altLang="zh-TW" sz="2400" dirty="0"/>
                  <a:t>(refer: Multi </a:t>
                </a:r>
                <a:r>
                  <a:rPr lang="en-US" altLang="zh-TW" sz="2400" dirty="0" err="1"/>
                  <a:t>bistability</a:t>
                </a:r>
                <a:r>
                  <a:rPr lang="en-US" altLang="zh-TW" sz="2400" dirty="0"/>
                  <a:t> and self-pulsation in nonlinear high- Q silicon </a:t>
                </a:r>
                <a:r>
                  <a:rPr lang="en-US" altLang="zh-TW" sz="2400" dirty="0" err="1"/>
                  <a:t>microring</a:t>
                </a:r>
                <a:r>
                  <a:rPr lang="en-US" altLang="zh-TW" sz="2400" dirty="0"/>
                  <a:t> resonators considering thermo-optical effect.</a:t>
                </a:r>
                <a:r>
                  <a:rPr lang="zh-TW" altLang="en-US" sz="2400" dirty="0"/>
                  <a:t>式</a:t>
                </a:r>
                <a:r>
                  <a:rPr lang="en-US" altLang="zh-TW" sz="2400" dirty="0"/>
                  <a:t>(2)</a:t>
                </a:r>
                <a:r>
                  <a:rPr lang="zh-TW" altLang="en-US" sz="2400" dirty="0"/>
                  <a:t> </a:t>
                </a:r>
                <a:r>
                  <a:rPr lang="en-US" altLang="zh-TW" sz="2400" dirty="0"/>
                  <a:t>)</a:t>
                </a:r>
              </a:p>
            </p:txBody>
          </p:sp>
        </mc:Choice>
        <mc:Fallback xmlns="">
          <p:sp>
            <p:nvSpPr>
              <p:cNvPr id="8" name="文字方塊 7">
                <a:extLst>
                  <a:ext uri="{FF2B5EF4-FFF2-40B4-BE49-F238E27FC236}">
                    <a16:creationId xmlns:a16="http://schemas.microsoft.com/office/drawing/2014/main" id="{E9FF1720-884B-BBA0-67B4-80B0E87B092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5" y="4947370"/>
                <a:ext cx="11994357" cy="1595180"/>
              </a:xfrm>
              <a:prstGeom prst="rect">
                <a:avLst/>
              </a:prstGeom>
              <a:blipFill>
                <a:blip r:embed="rId3"/>
                <a:stretch>
                  <a:fillRect l="-762" b="-804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03D05E3-DC19-6C74-DD48-EBE73E710E64}"/>
                  </a:ext>
                </a:extLst>
              </p:cNvPr>
              <p:cNvSpPr txBox="1"/>
              <p:nvPr/>
            </p:nvSpPr>
            <p:spPr>
              <a:xfrm>
                <a:off x="75125" y="3353198"/>
                <a:ext cx="7382253" cy="17291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m:rPr>
                          <m:sty m:val="p"/>
                        </m:rPr>
                        <a:rPr lang="en-US" altLang="zh-TW" sz="2000" b="0" i="0" smtClean="0">
                          <a:latin typeface="Cambria Math" panose="02040503050406030204" pitchFamily="18" charset="0"/>
                        </a:rPr>
                        <m:t>Δ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𝑇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𝑡h</m:t>
                              </m:r>
                            </m:sub>
                          </m:sSub>
                          <m:sSup>
                            <m:s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d>
                                <m:dPr>
                                  <m:begChr m:val="|"/>
                                  <m:endChr m:val="|"/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e>
                              </m:d>
                            </m:e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p>
                          </m:sSup>
                        </m:num>
                        <m:den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𝜌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𝑆𝑖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𝑆𝑖</m:t>
                              </m:r>
                            </m:sub>
                          </m:s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𝑒𝑓𝑓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00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𝛼</m:t>
                              </m:r>
                            </m:e>
                            <m:sub>
                              <m:r>
                                <a:rPr lang="en-US" altLang="zh-TW" sz="2000" i="1">
                                  <a:latin typeface="Cambria Math" panose="02040503050406030204" pitchFamily="18" charset="0"/>
                                </a:rPr>
                                <m:t>𝑙𝑖𝑛𝑒𝑎𝑟</m:t>
                              </m:r>
                            </m:sub>
                          </m:s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f>
                            <m:f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𝑣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𝑔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𝛽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𝑇𝑃𝐴</m:t>
                                  </m:r>
                                </m:sub>
                              </m:sSub>
                              <m:sSup>
                                <m:sSup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d>
                                    <m:dPr>
                                      <m:begChr m:val="|"/>
                                      <m:endChr m:val="|"/>
                                      <m:ctrlPr>
                                        <a:rPr lang="en-US" altLang="zh-TW" sz="20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altLang="zh-TW" sz="2000" b="0" i="1" smtClean="0">
                                          <a:latin typeface="Cambria Math" panose="02040503050406030204" pitchFamily="18" charset="0"/>
                                        </a:rPr>
                                        <m:t>𝑏</m:t>
                                      </m:r>
                                    </m:e>
                                  </m:d>
                                </m:e>
                                <m:sup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p>
                              </m:sSup>
                            </m:num>
                            <m:den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𝑟</m:t>
                                  </m:r>
                                </m:sub>
                              </m:s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  <m:sSub>
                                <m:sSubPr>
                                  <m:ctrlP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b>
                                  <m:r>
                                    <a:rPr lang="en-US" altLang="zh-TW" sz="2000" b="0" i="1" smtClean="0">
                                      <a:latin typeface="Cambria Math" panose="02040503050406030204" pitchFamily="18" charset="0"/>
                                    </a:rPr>
                                    <m:t>𝑇𝑃𝐴</m:t>
                                  </m:r>
                                </m:sub>
                              </m:sSub>
                            </m:den>
                          </m:f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𝑣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</m:sub>
                          </m:sSub>
                          <m:sSub>
                            <m:sSub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𝜎</m:t>
                              </m:r>
                            </m:e>
                            <m:sub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𝐹𝐶𝐴</m:t>
                              </m:r>
                            </m:sub>
                          </m:s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𝑁</m:t>
                          </m:r>
                        </m:e>
                      </m:d>
                    </m:oMath>
                  </m:oMathPara>
                </a14:m>
                <a:endParaRPr lang="en-US" altLang="zh-TW" sz="2000" b="0" dirty="0"/>
              </a:p>
              <a:p>
                <a:r>
                  <a:rPr lang="en-US" altLang="zh-TW" sz="2000" dirty="0"/>
                  <a:t>(refer: Multi </a:t>
                </a:r>
                <a:r>
                  <a:rPr lang="en-US" altLang="zh-TW" sz="2000" dirty="0" err="1"/>
                  <a:t>bistability</a:t>
                </a:r>
                <a:r>
                  <a:rPr lang="en-US" altLang="zh-TW" sz="2000" dirty="0"/>
                  <a:t> and self-pulsation in nonlinear high- Q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considering thermo-optical effect.</a:t>
                </a:r>
                <a:r>
                  <a:rPr lang="zh-TW" altLang="en-US" sz="2000" dirty="0"/>
                  <a:t>式</a:t>
                </a:r>
                <a:r>
                  <a:rPr lang="en-US" altLang="zh-TW" sz="2000" dirty="0"/>
                  <a:t>(3)</a:t>
                </a:r>
                <a:r>
                  <a:rPr lang="zh-TW" altLang="en-US" sz="2000" dirty="0"/>
                  <a:t> </a:t>
                </a:r>
                <a:r>
                  <a:rPr lang="en-US" altLang="zh-TW" sz="2000" dirty="0"/>
                  <a:t>)</a:t>
                </a:r>
              </a:p>
              <a:p>
                <a:endParaRPr lang="zh-TW" altLang="en-US" sz="2000" dirty="0"/>
              </a:p>
            </p:txBody>
          </p:sp>
        </mc:Choice>
        <mc:Fallback>
          <p:sp>
            <p:nvSpPr>
              <p:cNvPr id="10" name="文字方塊 9">
                <a:extLst>
                  <a:ext uri="{FF2B5EF4-FFF2-40B4-BE49-F238E27FC236}">
                    <a16:creationId xmlns:a16="http://schemas.microsoft.com/office/drawing/2014/main" id="{F03D05E3-DC19-6C74-DD48-EBE73E710E6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125" y="3353198"/>
                <a:ext cx="7382253" cy="1729128"/>
              </a:xfrm>
              <a:prstGeom prst="rect">
                <a:avLst/>
              </a:prstGeom>
              <a:blipFill>
                <a:blip r:embed="rId4"/>
                <a:stretch>
                  <a:fillRect l="-826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54223615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9D3708AF-E7F0-F81A-7471-9BFD85FA47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2242" y="116474"/>
            <a:ext cx="10515600" cy="164264"/>
          </a:xfrm>
        </p:spPr>
        <p:txBody>
          <a:bodyPr>
            <a:noAutofit/>
          </a:bodyPr>
          <a:lstStyle/>
          <a:p>
            <a:r>
              <a:rPr lang="zh-TW" altLang="en-US" sz="3200" dirty="0"/>
              <a:t>參數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044CFE-110E-4710-EFB1-A1DAFD0FC9E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172451" y="534233"/>
                <a:ext cx="11377864" cy="5465514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𝑏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   :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𝑒𝑙𝑒𝑐𝑡𝑟𝑖𝑐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𝑓𝑖𝑒𝑙𝑑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𝑖𝑛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𝑟𝑖𝑛𝑔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𝑢𝑛𝑖𝑡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  <m:sSup>
                            <m:sSup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𝐽</m:t>
                              </m:r>
                            </m:e>
                            <m:sup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0.5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altLang="zh-TW" sz="200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𝜔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: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𝑟𝑒𝑠𝑜𝑛𝑎𝑛𝑡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𝑟𝑎𝑑𝑖𝑎𝑛𝑡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𝑓𝑟𝑒𝑞𝑢𝑒𝑛𝑐𝑦</m:t>
                    </m:r>
                  </m:oMath>
                </a14:m>
                <a:r>
                  <a:rPr lang="en-US" altLang="zh-TW" sz="2000" dirty="0"/>
                  <a:t> (</a:t>
                </a:r>
                <a:r>
                  <a:rPr lang="en-US" altLang="zh-TW" sz="2000" b="0" dirty="0"/>
                  <a:t>wavelength =</a:t>
                </a:r>
                <a:r>
                  <a:rPr lang="en-US" altLang="zh-TW" sz="2000" dirty="0"/>
                  <a:t>1.55945 um)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𝜔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  :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𝐼𝑛𝑝𝑢𝑡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𝐿𝑎𝑠𝑒𝑟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𝑟𝑎𝑑𝑖𝑎𝑛𝑡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𝑓𝑟𝑒𝑞𝑢𝑒𝑛𝑐𝑦</m:t>
                    </m:r>
                  </m:oMath>
                </a14:m>
                <a:r>
                  <a:rPr lang="en-US" altLang="zh-TW" sz="2000" b="0" dirty="0"/>
                  <a:t> (wavelength = 1.558 um)</a:t>
                </a:r>
              </a:p>
              <a:p>
                <a:pPr marL="0" indent="0">
                  <a:buNone/>
                </a:pPr>
                <a:r>
                  <a:rPr lang="en-US" altLang="zh-TW" sz="2000" dirty="0"/>
                  <a:t>c    : speed of light in vacuum (299792458e6 um/s)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 :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𝐺𝑟𝑜𝑢𝑝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𝑖𝑛𝑑𝑒𝑥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3.9838</m:t>
                          </m:r>
                        </m:e>
                      </m:d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,  </m:t>
                      </m:r>
                      <m:sSub>
                        <m:sSub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𝑔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: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𝐺𝑟𝑜𝑢𝑝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𝑣𝑒𝑙𝑜𝑐𝑖𝑡𝑦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d>
                        <m:d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TW" sz="2000" i="1">
                              <a:latin typeface="Cambria Math" panose="02040503050406030204" pitchFamily="18" charset="0"/>
                            </a:rPr>
                            <m:t>0.007525259442194646</m:t>
                          </m:r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f>
                            <m:fPr>
                              <m:ctrlP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𝑐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𝑚</m:t>
                              </m:r>
                            </m:num>
                            <m:den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𝑝</m:t>
                              </m:r>
                              <m:r>
                                <a:rPr lang="en-US" altLang="zh-TW" sz="2000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den>
                          </m:f>
                        </m:e>
                      </m:d>
                    </m:oMath>
                  </m:oMathPara>
                </a14:m>
                <a:endParaRPr lang="en-US" altLang="zh-TW" sz="2000" b="0" dirty="0"/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altLang="zh-TW" sz="2000" i="1" dirty="0">
                        <a:latin typeface="Cambria Math" panose="02040503050406030204" pitchFamily="18" charset="0"/>
                      </a:rPr>
                      <m:t>L</m:t>
                    </m:r>
                    <m:r>
                      <a:rPr lang="en-US" altLang="zh-TW" sz="2000" b="0" i="1" dirty="0" smtClean="0">
                        <a:latin typeface="Cambria Math" panose="02040503050406030204" pitchFamily="18" charset="0"/>
                      </a:rPr>
                      <m:t>    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:</m:t>
                    </m:r>
                  </m:oMath>
                </a14:m>
                <a:r>
                  <a:rPr lang="en-US" altLang="zh-TW" sz="2000" dirty="0"/>
                  <a:t> cavity length (31.41592 um, 5um radius ring)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e>
                        <m:sub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 :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𝑆𝑒𝑙𝑓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𝑝h𝑎𝑠𝑒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𝑚𝑜𝑑𝑢𝑙𝑎𝑡𝑖𝑜𝑛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𝑐𝑜𝑒𝑓𝑓𝑖𝑐𝑖𝑒𝑛𝑡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 (4.5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𝑒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−09 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𝑢</m:t>
                      </m:r>
                      <m:sSup>
                        <m:sSupPr>
                          <m:ctrlP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𝑚</m:t>
                          </m:r>
                        </m:e>
                        <m:sup>
                          <m:r>
                            <a:rPr lang="en-US" altLang="zh-TW" sz="2000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p>
                      </m:sSup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/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𝑚𝑊</m:t>
                      </m:r>
                      <m:r>
                        <a:rPr lang="en-US" altLang="zh-TW" sz="2000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altLang="zh-TW" sz="2000" dirty="0"/>
              </a:p>
              <a:p>
                <a:pPr marL="0" indent="0">
                  <a:buNone/>
                </a:pPr>
                <a:r>
                  <a:rPr lang="en-US" altLang="zh-TW" sz="2000" dirty="0"/>
                  <a:t>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  <m:r>
                      <a:rPr lang="en-US" altLang="zh-TW" sz="2000" b="0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altLang="zh-TW" sz="2000" dirty="0"/>
                  <a:t>refer: Multi </a:t>
                </a:r>
                <a:r>
                  <a:rPr lang="en-US" altLang="zh-TW" sz="2000" dirty="0" err="1"/>
                  <a:t>bistability</a:t>
                </a:r>
                <a:r>
                  <a:rPr lang="en-US" altLang="zh-TW" sz="2000" dirty="0"/>
                  <a:t> and self-pulsation in nonlinear high- Q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considering thermo-optical effect. TABLE. 1)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𝑆𝑃𝑀</m:t>
                        </m:r>
                      </m:sub>
                    </m:sSub>
                  </m:oMath>
                </a14:m>
                <a:r>
                  <a:rPr lang="en-US" altLang="zh-TW" sz="2000" dirty="0"/>
                  <a:t>: effective cross section of Kerr effect (0.204 um^2)</a:t>
                </a:r>
              </a:p>
              <a:p>
                <a:pPr marL="0" indent="0">
                  <a:buNone/>
                </a:pPr>
                <a:r>
                  <a:rPr lang="en-US" altLang="zh-TW" sz="2000" dirty="0"/>
                  <a:t>(refer: Multi </a:t>
                </a:r>
                <a:r>
                  <a:rPr lang="en-US" altLang="zh-TW" sz="2000" dirty="0" err="1"/>
                  <a:t>bistability</a:t>
                </a:r>
                <a:r>
                  <a:rPr lang="en-US" altLang="zh-TW" sz="2000" dirty="0"/>
                  <a:t> and self-pulsation in nonlinear high- Q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considering thermo-optical effect. TABLE. 1)</a:t>
                </a:r>
              </a:p>
              <a:p>
                <a:pPr marL="0" indent="0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𝜅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zh-TW" altLang="en-US" sz="2000" dirty="0"/>
                  <a:t>：</a:t>
                </a:r>
                <a:r>
                  <a:rPr lang="en-US" altLang="zh-TW" sz="2000" dirty="0"/>
                  <a:t>index change per Kelvin (0.000195 1/K)</a:t>
                </a:r>
              </a:p>
              <a:p>
                <a:pPr marL="0" indent="0">
                  <a:buNone/>
                </a:pPr>
                <a:r>
                  <a:rPr lang="en-US" altLang="zh-TW" sz="2000" dirty="0"/>
                  <a:t>(refer: Thermal Modelling of Silicon Photonic Ring Modulator with Substrate Undercut </a:t>
                </a:r>
                <a:r>
                  <a:rPr lang="zh-TW" altLang="en-US" sz="2000" dirty="0"/>
                  <a:t>式</a:t>
                </a:r>
                <a:r>
                  <a:rPr lang="en-US" altLang="zh-TW" sz="2000" dirty="0"/>
                  <a:t>(1)</a:t>
                </a:r>
                <a:r>
                  <a:rPr lang="zh-TW" altLang="en-US" sz="2000" dirty="0"/>
                  <a:t>內參數</a:t>
                </a:r>
                <a:r>
                  <a:rPr lang="en-US" altLang="zh-TW" sz="2000" dirty="0"/>
                  <a:t>)</a:t>
                </a:r>
              </a:p>
              <a:p>
                <a:pPr marL="0" indent="0">
                  <a:buNone/>
                </a:pPr>
                <a:endParaRPr lang="en-US" altLang="zh-TW" sz="2000" dirty="0"/>
              </a:p>
              <a:p>
                <a:pPr marL="0" indent="0">
                  <a:buNone/>
                </a:pPr>
                <a:endParaRPr lang="en-US" altLang="zh-TW" sz="2000" dirty="0"/>
              </a:p>
              <a:p>
                <a:pPr marL="0" indent="0">
                  <a:buNone/>
                </a:pPr>
                <a:endParaRPr lang="en-US" altLang="zh-TW" sz="2000" dirty="0"/>
              </a:p>
            </p:txBody>
          </p:sp>
        </mc:Choice>
        <mc:Fallback>
          <p:sp>
            <p:nvSpPr>
              <p:cNvPr id="3" name="內容版面配置區 2">
                <a:extLst>
                  <a:ext uri="{FF2B5EF4-FFF2-40B4-BE49-F238E27FC236}">
                    <a16:creationId xmlns:a16="http://schemas.microsoft.com/office/drawing/2014/main" id="{FE044CFE-110E-4710-EFB1-A1DAFD0FC9E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172451" y="534233"/>
                <a:ext cx="11377864" cy="5465514"/>
              </a:xfrm>
              <a:blipFill>
                <a:blip r:embed="rId2"/>
                <a:stretch>
                  <a:fillRect l="-536" b="-1228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59135915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D29CDBCC-7DB4-6E03-349A-273C6D54F176}"/>
                  </a:ext>
                </a:extLst>
              </p:cNvPr>
              <p:cNvSpPr txBox="1"/>
              <p:nvPr/>
            </p:nvSpPr>
            <p:spPr>
              <a:xfrm>
                <a:off x="192505" y="59977"/>
                <a:ext cx="10852485" cy="6863417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𝑒</m:t>
                        </m:r>
                      </m:sub>
                    </m:sSub>
                  </m:oMath>
                </a14:m>
                <a:r>
                  <a:rPr lang="zh-TW" altLang="en-US" sz="2000" dirty="0"/>
                  <a:t>：</a:t>
                </a:r>
                <a:r>
                  <a:rPr lang="en-US" altLang="zh-TW" sz="2000" dirty="0"/>
                  <a:t>amplitude couple photon life time (7.75369666558376 </a:t>
                </a:r>
                <a:r>
                  <a:rPr lang="en-US" altLang="zh-TW" sz="2000" dirty="0" err="1"/>
                  <a:t>ps</a:t>
                </a:r>
                <a:r>
                  <a:rPr lang="en-US" altLang="zh-TW" sz="2000" dirty="0"/>
                  <a:t>)</a:t>
                </a:r>
              </a:p>
              <a:p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𝑜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sz="2000" dirty="0"/>
                  <a:t> amplitude photon life time : 7.650191072370922 ps</a:t>
                </a:r>
              </a:p>
              <a:p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𝛼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𝑙𝑖𝑛𝑒𝑎𝑟</m:t>
                        </m:r>
                      </m:sub>
                    </m:sSub>
                  </m:oMath>
                </a14:m>
                <a:r>
                  <a:rPr lang="zh-TW" altLang="en-US" sz="2000" dirty="0"/>
                  <a:t>：</a:t>
                </a:r>
                <a:r>
                  <a:rPr lang="en-US" altLang="zh-TW" sz="2000" dirty="0"/>
                  <a:t>linear absorption coefficient (34.74051370464404 1/cm)</a:t>
                </a:r>
              </a:p>
              <a:p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𝛽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𝑇𝑃𝐴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sz="2000" dirty="0"/>
                  <a:t>Two photon absorption coefficient (5e-13 cm/</a:t>
                </a:r>
                <a:r>
                  <a:rPr lang="en-US" altLang="zh-TW" sz="2000" dirty="0" err="1"/>
                  <a:t>mW</a:t>
                </a:r>
                <a:r>
                  <a:rPr lang="en-US" altLang="zh-TW" sz="2000" dirty="0"/>
                  <a:t>)</a:t>
                </a:r>
              </a:p>
              <a:p>
                <a:r>
                  <a:rPr lang="en-US" altLang="zh-TW" sz="2000" dirty="0"/>
                  <a:t>(refer: Measurement of the Nonlinear Loss and Effective Free Carrier Lifetime in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</a:t>
                </a:r>
                <a:r>
                  <a:rPr lang="zh-TW" altLang="en-US" sz="2000" dirty="0"/>
                  <a:t>式</a:t>
                </a:r>
                <a:r>
                  <a:rPr lang="en-US" altLang="zh-TW" sz="2000" dirty="0"/>
                  <a:t>(10)</a:t>
                </a:r>
                <a14:m>
                  <m:oMath xmlns:m="http://schemas.openxmlformats.org/officeDocument/2006/math">
                    <m:r>
                      <a:rPr lang="en-US" altLang="zh-TW" sz="2000" b="0" i="0" dirty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altLang="zh-TW" sz="2000" i="1" dirty="0" smtClean="0">
                        <a:latin typeface="Cambria Math" panose="02040503050406030204" pitchFamily="18" charset="0"/>
                      </a:rPr>
                      <m:t>𝛽</m:t>
                    </m:r>
                  </m:oMath>
                </a14:m>
                <a:r>
                  <a:rPr lang="en-US" altLang="zh-TW" sz="2000" dirty="0"/>
                  <a:t>) </a:t>
                </a:r>
              </a:p>
              <a:p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𝑇𝑃𝐴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sz="2000" dirty="0"/>
                  <a:t> effective cross section of Two-photon absorption effect (0.1289 x10^-8 cm^2)</a:t>
                </a:r>
              </a:p>
              <a:p>
                <a:r>
                  <a:rPr lang="en-US" altLang="zh-TW" sz="2000" dirty="0"/>
                  <a:t> (refer: Multi </a:t>
                </a:r>
                <a:r>
                  <a:rPr lang="en-US" altLang="zh-TW" sz="2000" dirty="0" err="1"/>
                  <a:t>bistability</a:t>
                </a:r>
                <a:r>
                  <a:rPr lang="en-US" altLang="zh-TW" sz="2000" dirty="0"/>
                  <a:t> and self-pulsation in nonlinear high- Q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considering thermo-optical effect. TABLE. 1)</a:t>
                </a:r>
              </a:p>
              <a:p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𝜎</m:t>
                        </m:r>
                      </m:e>
                      <m:sub>
                        <m:r>
                          <a:rPr lang="en-US" altLang="zh-TW" sz="2000" b="0" i="1" smtClean="0">
                            <a:latin typeface="Cambria Math" panose="02040503050406030204" pitchFamily="18" charset="0"/>
                          </a:rPr>
                          <m:t>𝐹𝐶𝐴</m:t>
                        </m:r>
                      </m:sub>
                    </m:sSub>
                    <m:r>
                      <a:rPr lang="zh-TW" altLang="en-US" sz="2000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sz="2000" dirty="0"/>
                  <a:t>effective FCA cross section (1.04e-17 cm^2)</a:t>
                </a:r>
              </a:p>
              <a:p>
                <a:r>
                  <a:rPr lang="en-US" altLang="zh-TW" sz="2000" dirty="0"/>
                  <a:t>(refer: Measurement of the Nonlinear Loss and Effective Free Carrier Lifetime in Silicon </a:t>
                </a:r>
                <a:r>
                  <a:rPr lang="en-US" altLang="zh-TW" sz="2000" dirty="0" err="1"/>
                  <a:t>Microring</a:t>
                </a:r>
                <a:r>
                  <a:rPr lang="en-US" altLang="zh-TW" sz="2000" dirty="0"/>
                  <a:t> Resonators </a:t>
                </a:r>
                <a:r>
                  <a:rPr lang="zh-TW" altLang="en-US" sz="2000" dirty="0"/>
                  <a:t>式</a:t>
                </a:r>
                <a:r>
                  <a:rPr lang="en-US" altLang="zh-TW" sz="2000" dirty="0"/>
                  <a:t>(10)) </a:t>
                </a:r>
              </a:p>
              <a:p>
                <a:endParaRPr lang="en-US" altLang="zh-TW" sz="2000" dirty="0"/>
              </a:p>
              <a:p>
                <a:r>
                  <a:rPr lang="en-US" altLang="zh-TW" sz="2000" dirty="0"/>
                  <a:t>N</a:t>
                </a:r>
                <a:r>
                  <a:rPr lang="zh-TW" altLang="en-US" sz="2000" dirty="0"/>
                  <a:t>：</a:t>
                </a:r>
                <a:r>
                  <a:rPr lang="en-US" altLang="zh-TW" sz="2000" dirty="0"/>
                  <a:t>Free carrier density (1/cm^3)</a:t>
                </a:r>
              </a:p>
              <a:p>
                <a:endParaRPr lang="en-US" altLang="zh-TW" sz="2000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200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altLang="zh-TW" sz="2000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zh-TW" altLang="en-US" sz="2000" dirty="0"/>
                  <a:t>：</a:t>
                </a:r>
                <a:r>
                  <a:rPr lang="en-US" altLang="zh-TW" sz="2000" dirty="0"/>
                  <a:t>Input Laser field amplitude (unit</a:t>
                </a:r>
                <a:r>
                  <a:rPr lang="zh-TW" altLang="en-US" sz="2000" dirty="0"/>
                  <a:t>：</a:t>
                </a:r>
                <a:r>
                  <a:rPr lang="en-US" altLang="zh-TW" sz="2000" dirty="0"/>
                  <a:t>mW^0.5)</a:t>
                </a:r>
              </a:p>
              <a:p>
                <a:endParaRPr lang="zh-TW" altLang="en-US" sz="2000" dirty="0"/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D29CDBCC-7DB4-6E03-349A-273C6D54F17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2505" y="59977"/>
                <a:ext cx="10852485" cy="6863417"/>
              </a:xfrm>
              <a:prstGeom prst="rect">
                <a:avLst/>
              </a:prstGeom>
              <a:blipFill>
                <a:blip r:embed="rId2"/>
                <a:stretch>
                  <a:fillRect l="-618" t="-533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6070178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3CD989CD-5C31-5A67-B058-8BE4C1BB1F0E}"/>
                  </a:ext>
                </a:extLst>
              </p:cNvPr>
              <p:cNvSpPr txBox="1"/>
              <p:nvPr/>
            </p:nvSpPr>
            <p:spPr>
              <a:xfrm>
                <a:off x="232610" y="236439"/>
                <a:ext cx="10098505" cy="73165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sz="1800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sz="1800" b="0" i="1" smtClean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sz="1800" b="0" i="1" smtClean="0">
                            <a:latin typeface="Cambria Math" panose="02040503050406030204" pitchFamily="18" charset="0"/>
                          </a:rPr>
                          <m:t>𝑡h</m:t>
                        </m:r>
                      </m:sub>
                    </m:sSub>
                    <m:r>
                      <a:rPr lang="zh-TW" altLang="en-US" i="1">
                        <a:latin typeface="Cambria Math" panose="02040503050406030204" pitchFamily="18" charset="0"/>
                      </a:rPr>
                      <m:t>：</m:t>
                    </m:r>
                  </m:oMath>
                </a14:m>
                <a:r>
                  <a:rPr lang="en-US" altLang="zh-TW" dirty="0"/>
                  <a:t>Thermal time constant (fitting value =17.5ns )</a:t>
                </a:r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𝜌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𝑆𝑖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density of Silicon (2.329e-12 g/um^3)</a:t>
                </a:r>
              </a:p>
              <a:p>
                <a:r>
                  <a:rPr lang="en-US" altLang="zh-TW" dirty="0"/>
                  <a:t>(refer: Multi </a:t>
                </a:r>
                <a:r>
                  <a:rPr lang="en-US" altLang="zh-TW" dirty="0" err="1"/>
                  <a:t>bistability</a:t>
                </a:r>
                <a:r>
                  <a:rPr lang="en-US" altLang="zh-TW" dirty="0"/>
                  <a:t> and self-pulsation in nonlinear high- Q silicon </a:t>
                </a:r>
                <a:r>
                  <a:rPr lang="en-US" altLang="zh-TW" dirty="0" err="1"/>
                  <a:t>microring</a:t>
                </a:r>
                <a:r>
                  <a:rPr lang="en-US" altLang="zh-TW" dirty="0"/>
                  <a:t> resonators considering thermo-optical effect. TABLE. 1)</a:t>
                </a:r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𝑐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𝑆𝑖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 specific heat capacity of silicon (713.0 </a:t>
                </a:r>
                <a:r>
                  <a:rPr lang="en-US" altLang="zh-TW" dirty="0" err="1"/>
                  <a:t>mJ</a:t>
                </a:r>
                <a:r>
                  <a:rPr lang="en-US" altLang="zh-TW" dirty="0"/>
                  <a:t>/(g*K))</a:t>
                </a:r>
              </a:p>
              <a:p>
                <a:r>
                  <a:rPr lang="en-US" altLang="zh-TW" dirty="0"/>
                  <a:t>(refer: Multi </a:t>
                </a:r>
                <a:r>
                  <a:rPr lang="en-US" altLang="zh-TW" dirty="0" err="1"/>
                  <a:t>bistability</a:t>
                </a:r>
                <a:r>
                  <a:rPr lang="en-US" altLang="zh-TW" dirty="0"/>
                  <a:t> and self-pulsation in nonlinear high- Q silicon </a:t>
                </a:r>
                <a:r>
                  <a:rPr lang="en-US" altLang="zh-TW" dirty="0" err="1"/>
                  <a:t>microring</a:t>
                </a:r>
                <a:r>
                  <a:rPr lang="en-US" altLang="zh-TW" dirty="0"/>
                  <a:t> resonators considering thermo-optical effect. TABLE. 1)</a:t>
                </a:r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𝑡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𝑟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Photon round trip time (0.4174730024555257 </a:t>
                </a:r>
                <a:r>
                  <a:rPr lang="en-US" altLang="zh-TW" dirty="0" err="1"/>
                  <a:t>ps</a:t>
                </a:r>
                <a:r>
                  <a:rPr lang="en-US" altLang="zh-TW" dirty="0"/>
                  <a:t>)</a:t>
                </a:r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𝜏</m:t>
                        </m:r>
                      </m:e>
                      <m:sub>
                        <m:r>
                          <a:rPr lang="en-US" altLang="zh-TW" i="1" dirty="0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Free carrier life time (fitting value = 0.5 ns)</a:t>
                </a:r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r>
                      <a:rPr lang="en-US" altLang="zh-TW" i="1">
                        <a:latin typeface="Cambria Math" panose="02040503050406030204" pitchFamily="18" charset="0"/>
                      </a:rPr>
                      <m:t>h</m:t>
                    </m:r>
                    <m:r>
                      <a:rPr lang="en-US" altLang="zh-TW" i="1">
                        <a:latin typeface="Cambria Math" panose="02040503050406030204" pitchFamily="18" charset="0"/>
                      </a:rPr>
                      <m:t>𝜈</m:t>
                    </m:r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photon energy (0.0001274983842559692 </a:t>
                </a:r>
                <a:r>
                  <a:rPr lang="en-US" altLang="zh-TW" dirty="0" err="1"/>
                  <a:t>fJ</a:t>
                </a:r>
                <a:r>
                  <a:rPr lang="en-US" altLang="zh-TW" dirty="0"/>
                  <a:t>)</a:t>
                </a:r>
              </a:p>
              <a:p>
                <a:endParaRPr lang="en-US" altLang="zh-TW" dirty="0"/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𝐹𝐶𝐴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 effective cross section of Free carrier absorption (0.116 x10^-8 cm^2)</a:t>
                </a:r>
              </a:p>
              <a:p>
                <a:r>
                  <a:rPr lang="en-US" altLang="zh-TW" dirty="0"/>
                  <a:t> (refer: Multi </a:t>
                </a:r>
                <a:r>
                  <a:rPr lang="en-US" altLang="zh-TW" dirty="0" err="1"/>
                  <a:t>bistability</a:t>
                </a:r>
                <a:r>
                  <a:rPr lang="en-US" altLang="zh-TW" dirty="0"/>
                  <a:t> and self-pulsation in nonlinear high- Q silicon </a:t>
                </a:r>
                <a:r>
                  <a:rPr lang="en-US" altLang="zh-TW" dirty="0" err="1"/>
                  <a:t>microring</a:t>
                </a:r>
                <a:r>
                  <a:rPr lang="en-US" altLang="zh-TW" dirty="0"/>
                  <a:t> resonators considering thermo-optical effect. TABLE. 1)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altLang="zh-TW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altLang="zh-TW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altLang="zh-TW" b="0" i="1" smtClean="0">
                            <a:latin typeface="Cambria Math" panose="02040503050406030204" pitchFamily="18" charset="0"/>
                          </a:rPr>
                          <m:t>𝑒𝑓𝑓</m:t>
                        </m:r>
                      </m:sub>
                    </m:sSub>
                  </m:oMath>
                </a14:m>
                <a:r>
                  <a:rPr lang="zh-TW" altLang="en-US" dirty="0"/>
                  <a:t>：</a:t>
                </a:r>
                <a:r>
                  <a:rPr lang="en-US" altLang="zh-TW" dirty="0"/>
                  <a:t> effective cross section of Free carrier absorption (0.116 um^2)</a:t>
                </a:r>
              </a:p>
              <a:p>
                <a:r>
                  <a:rPr lang="en-US" altLang="zh-TW" dirty="0"/>
                  <a:t> (refer: Multi </a:t>
                </a:r>
                <a:r>
                  <a:rPr lang="en-US" altLang="zh-TW" dirty="0" err="1"/>
                  <a:t>bistability</a:t>
                </a:r>
                <a:r>
                  <a:rPr lang="en-US" altLang="zh-TW" dirty="0"/>
                  <a:t> and self-pulsation in nonlinear high- Q silicon </a:t>
                </a:r>
                <a:r>
                  <a:rPr lang="en-US" altLang="zh-TW" dirty="0" err="1"/>
                  <a:t>microring</a:t>
                </a:r>
                <a:r>
                  <a:rPr lang="en-US" altLang="zh-TW" dirty="0"/>
                  <a:t> resonators considering thermo-optical effect. TABLE. 1)</a:t>
                </a:r>
              </a:p>
              <a:p>
                <a:r>
                  <a:rPr lang="en-US" altLang="zh-TW" dirty="0"/>
                  <a:t>Q = 2325.6759128051194,  </a:t>
                </a:r>
                <a:r>
                  <a:rPr lang="en-US" altLang="zh-TW" dirty="0" err="1"/>
                  <a:t>LineWidth</a:t>
                </a:r>
                <a:r>
                  <a:rPr lang="en-US" altLang="zh-TW" dirty="0"/>
                  <a:t> = 0.6705372826734959 nm</a:t>
                </a:r>
              </a:p>
              <a:p>
                <a:endParaRPr lang="en-US" altLang="zh-TW" dirty="0"/>
              </a:p>
              <a:p>
                <a:endParaRPr lang="zh-TW" altLang="en-US" dirty="0"/>
              </a:p>
            </p:txBody>
          </p:sp>
        </mc:Choice>
        <mc:Fallback>
          <p:sp>
            <p:nvSpPr>
              <p:cNvPr id="5" name="文字方塊 4">
                <a:extLst>
                  <a:ext uri="{FF2B5EF4-FFF2-40B4-BE49-F238E27FC236}">
                    <a16:creationId xmlns:a16="http://schemas.microsoft.com/office/drawing/2014/main" id="{3CD989CD-5C31-5A67-B058-8BE4C1BB1F0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32610" y="236439"/>
                <a:ext cx="10098505" cy="7316555"/>
              </a:xfrm>
              <a:prstGeom prst="rect">
                <a:avLst/>
              </a:prstGeom>
              <a:blipFill>
                <a:blip r:embed="rId2"/>
                <a:stretch>
                  <a:fillRect l="-483" t="-500"/>
                </a:stretch>
              </a:blipFill>
            </p:spPr>
            <p:txBody>
              <a:bodyPr/>
              <a:lstStyle/>
              <a:p>
                <a:r>
                  <a:rPr lang="zh-TW" alt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14741491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圖片 8">
            <a:extLst>
              <a:ext uri="{FF2B5EF4-FFF2-40B4-BE49-F238E27FC236}">
                <a16:creationId xmlns:a16="http://schemas.microsoft.com/office/drawing/2014/main" id="{B22BD464-E30B-DE93-491F-F33A0C934F7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" y="1365583"/>
            <a:ext cx="6096000" cy="4606963"/>
          </a:xfrm>
          <a:prstGeom prst="rect">
            <a:avLst/>
          </a:prstGeom>
        </p:spPr>
      </p:pic>
      <p:pic>
        <p:nvPicPr>
          <p:cNvPr id="11" name="圖片 10">
            <a:extLst>
              <a:ext uri="{FF2B5EF4-FFF2-40B4-BE49-F238E27FC236}">
                <a16:creationId xmlns:a16="http://schemas.microsoft.com/office/drawing/2014/main" id="{CEA6D755-D65D-1C99-B5F6-29C8993A94E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95975" y="1142812"/>
            <a:ext cx="6202279" cy="4724750"/>
          </a:xfrm>
          <a:prstGeom prst="rect">
            <a:avLst/>
          </a:prstGeom>
        </p:spPr>
      </p:pic>
      <p:sp>
        <p:nvSpPr>
          <p:cNvPr id="2" name="文字方塊 1">
            <a:extLst>
              <a:ext uri="{FF2B5EF4-FFF2-40B4-BE49-F238E27FC236}">
                <a16:creationId xmlns:a16="http://schemas.microsoft.com/office/drawing/2014/main" id="{CAC59B82-66B2-EA1B-4601-AF2A2098C095}"/>
              </a:ext>
            </a:extLst>
          </p:cNvPr>
          <p:cNvSpPr txBox="1"/>
          <p:nvPr/>
        </p:nvSpPr>
        <p:spPr>
          <a:xfrm>
            <a:off x="954593" y="241160"/>
            <a:ext cx="6631912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zh-TW" sz="2800" dirty="0"/>
              <a:t>Transmission when S0 = 10^0.5  (Input Laser power = 10 </a:t>
            </a:r>
            <a:r>
              <a:rPr lang="en-US" altLang="zh-TW" sz="2800" dirty="0" err="1"/>
              <a:t>mW</a:t>
            </a:r>
            <a:r>
              <a:rPr lang="en-US" altLang="zh-TW" sz="2800" dirty="0"/>
              <a:t>)</a:t>
            </a:r>
            <a:endParaRPr lang="zh-TW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23040214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標題 1">
            <a:extLst>
              <a:ext uri="{FF2B5EF4-FFF2-40B4-BE49-F238E27FC236}">
                <a16:creationId xmlns:a16="http://schemas.microsoft.com/office/drawing/2014/main" id="{B422E595-D90C-7CAE-ADF0-4FC79D1204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TW" dirty="0"/>
              <a:t>Absorption in resonance </a:t>
            </a:r>
            <a:endParaRPr lang="zh-TW" altLang="en-US" dirty="0"/>
          </a:p>
        </p:txBody>
      </p:sp>
      <p:sp>
        <p:nvSpPr>
          <p:cNvPr id="3" name="內容版面配置區 2">
            <a:extLst>
              <a:ext uri="{FF2B5EF4-FFF2-40B4-BE49-F238E27FC236}">
                <a16:creationId xmlns:a16="http://schemas.microsoft.com/office/drawing/2014/main" id="{B9F6632C-158B-E1AF-1419-E1F3545C72B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TW" dirty="0"/>
              <a:t>Peak two photon absorption = 0.03543669954254454 1/cm</a:t>
            </a:r>
          </a:p>
          <a:p>
            <a:r>
              <a:rPr lang="en-US" altLang="zh-TW" dirty="0"/>
              <a:t>Peak Free carrier absorption = 0.0632404645402325 1/cm</a:t>
            </a:r>
          </a:p>
          <a:p>
            <a:r>
              <a:rPr lang="en-US" altLang="zh-TW" dirty="0"/>
              <a:t>Field Linear round-trip loss = 0.9468919671731187</a:t>
            </a:r>
          </a:p>
          <a:p>
            <a:r>
              <a:rPr lang="en-US" altLang="zh-TW" dirty="0"/>
              <a:t>Field couple through coefficient = 0.947582</a:t>
            </a:r>
          </a:p>
          <a:p>
            <a:r>
              <a:rPr lang="en-US" altLang="zh-TW" dirty="0"/>
              <a:t>Photon Round Trip time : 0.41747300245552565 </a:t>
            </a:r>
            <a:r>
              <a:rPr lang="en-US" altLang="zh-TW" dirty="0" err="1"/>
              <a:t>ps</a:t>
            </a:r>
            <a:endParaRPr lang="en-US" altLang="zh-TW" dirty="0"/>
          </a:p>
          <a:p>
            <a:r>
              <a:rPr lang="en-US" altLang="zh-TW" dirty="0"/>
              <a:t>Input Laser photon energy : 0.0001274983842559692 </a:t>
            </a:r>
            <a:r>
              <a:rPr lang="en-US" altLang="zh-TW" dirty="0" err="1"/>
              <a:t>fJ</a:t>
            </a:r>
            <a:endParaRPr lang="en-US" altLang="zh-TW" dirty="0"/>
          </a:p>
          <a:p>
            <a:pPr marL="0" indent="0">
              <a:buNone/>
            </a:pPr>
            <a:r>
              <a:rPr lang="en-US" altLang="zh-TW" dirty="0"/>
              <a:t>(Input Laser wavelength = 1.558 um)</a:t>
            </a:r>
          </a:p>
          <a:p>
            <a:endParaRPr lang="zh-TW" altLang="en-US" dirty="0"/>
          </a:p>
        </p:txBody>
      </p:sp>
    </p:spTree>
    <p:extLst>
      <p:ext uri="{BB962C8B-B14F-4D97-AF65-F5344CB8AC3E}">
        <p14:creationId xmlns:p14="http://schemas.microsoft.com/office/powerpoint/2010/main" val="235182309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佈景主題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自訂 1">
      <a:majorFont>
        <a:latin typeface="Times New Roman"/>
        <a:ea typeface="標楷體"/>
        <a:cs typeface=""/>
      </a:majorFont>
      <a:minorFont>
        <a:latin typeface="Times New Roman"/>
        <a:ea typeface="標楷體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474</TotalTime>
  <Words>696</Words>
  <Application>Microsoft Office PowerPoint</Application>
  <PresentationFormat>寬螢幕</PresentationFormat>
  <Paragraphs>70</Paragraphs>
  <Slides>7</Slides>
  <Notes>0</Notes>
  <HiddenSlides>0</HiddenSlides>
  <MMClips>0</MMClips>
  <ScaleCrop>false</ScaleCrop>
  <HeadingPairs>
    <vt:vector size="6" baseType="variant">
      <vt:variant>
        <vt:lpstr>使用字型</vt:lpstr>
      </vt:variant>
      <vt:variant>
        <vt:i4>3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7</vt:i4>
      </vt:variant>
    </vt:vector>
  </HeadingPairs>
  <TitlesOfParts>
    <vt:vector size="11" baseType="lpstr">
      <vt:lpstr>Arial</vt:lpstr>
      <vt:lpstr>Cambria Math</vt:lpstr>
      <vt:lpstr>Times New Roman</vt:lpstr>
      <vt:lpstr>Office 佈景主題</vt:lpstr>
      <vt:lpstr>Parameter dependency check of couple mode theory in time </vt:lpstr>
      <vt:lpstr>Couple mode theory in time</vt:lpstr>
      <vt:lpstr>參數</vt:lpstr>
      <vt:lpstr>PowerPoint 簡報</vt:lpstr>
      <vt:lpstr>PowerPoint 簡報</vt:lpstr>
      <vt:lpstr>PowerPoint 簡報</vt:lpstr>
      <vt:lpstr>Absorption in resonance 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in kev</dc:creator>
  <cp:lastModifiedBy>in kev</cp:lastModifiedBy>
  <cp:revision>317</cp:revision>
  <dcterms:created xsi:type="dcterms:W3CDTF">2025-07-10T15:42:30Z</dcterms:created>
  <dcterms:modified xsi:type="dcterms:W3CDTF">2025-07-15T08:40:20Z</dcterms:modified>
</cp:coreProperties>
</file>